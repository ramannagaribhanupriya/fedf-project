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"/>
            <a:ext cx="320040" cy="5079492"/>
          </a:xfrm>
          <a:prstGeom prst="rect">
            <a:avLst/>
          </a:prstGeom>
          <a:solidFill>
            <a:srgbClr val="1A2B80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3474720"/>
            <a:ext cx="2560320" cy="2560320"/>
          </a:xfrm>
          <a:prstGeom prst="ellipse">
            <a:avLst/>
          </a:prstGeom>
          <a:solidFill>
            <a:srgbClr val="2540A0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498080" y="182880"/>
            <a:ext cx="1645920" cy="1645920"/>
          </a:xfrm>
          <a:prstGeom prst="ellipse">
            <a:avLst/>
          </a:prstGeom>
          <a:solidFill>
            <a:srgbClr val="4FC3F7">
              <a:alpha val="1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502920"/>
            <a:ext cx="3840480" cy="365760"/>
          </a:xfrm>
          <a:prstGeom prst="roundRect">
            <a:avLst>
              <a:gd name="adj" fmla="val 12500"/>
            </a:avLst>
          </a:prstGeom>
          <a:solidFill>
            <a:srgbClr val="0288D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029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25CS1201E  |  Frontend Development Frameworks &amp; UI Engineering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0515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spc="300" kern="0" dirty="0">
                <a:solidFill>
                  <a:srgbClr val="FFFFFF"/>
                </a:solidFill>
              </a:rPr>
              <a:t>Examination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548640" y="17830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200" kern="0" dirty="0">
                <a:solidFill>
                  <a:srgbClr val="4FC3F7"/>
                </a:solidFill>
              </a:rPr>
              <a:t>Invigilation Duty Allocator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548640" y="26974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0A4D4"/>
                </a:solidFill>
              </a:rPr>
              <a:t>Smart Web-Based System for Automated Duty Management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218688"/>
            <a:ext cx="3200400" cy="36576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429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A4D4"/>
                </a:solidFill>
              </a:rPr>
              <a:t xml:space="preserve">Team Lead: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 xml:space="preserve">LAHARI  </a:t>
            </a:r>
            <a:pPr indent="0" marL="0">
              <a:buNone/>
            </a:pPr>
            <a:r>
              <a:rPr lang="en-US" sz="1200" dirty="0">
                <a:solidFill>
                  <a:srgbClr val="90A4D4"/>
                </a:solidFill>
              </a:rPr>
              <a:t>(2520090226)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7673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A4D4"/>
                </a:solidFill>
              </a:rPr>
              <a:t xml:space="preserve">Team Member: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 xml:space="preserve">BHANU PRIYA  </a:t>
            </a:r>
            <a:pPr indent="0" marL="0">
              <a:buNone/>
            </a:pPr>
            <a:r>
              <a:rPr lang="en-US" sz="1200" dirty="0">
                <a:solidFill>
                  <a:srgbClr val="90A4D4"/>
                </a:solidFill>
              </a:rPr>
              <a:t>(2520090171)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251960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00E5A0">
              <a:alpha val="8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2519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5E"/>
                </a:solidFill>
              </a:rPr>
              <a:t>2025–26 | Term III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4FC3F7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45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Project Abstract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5303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FC3F7"/>
                </a:solidFill>
              </a:rPr>
              <a:t>Overview &amp; Problem Statement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70432"/>
            <a:ext cx="54864" cy="169164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344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</a:rPr>
              <a:t>⚠ The Problem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60020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 xml:space="preserve">Manual duty allocation is </a:t>
            </a:r>
            <a:pPr indent="0" marL="0">
              <a:buNone/>
            </a:pPr>
            <a:r>
              <a:rPr lang="en-US" sz="1200" b="1" dirty="0">
                <a:solidFill>
                  <a:srgbClr val="363636"/>
                </a:solidFill>
              </a:rPr>
              <a:t>time-consuming, error-prone,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and leads to uneven workload distribution among faculty staff.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170432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70432"/>
            <a:ext cx="54864" cy="169164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2344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95C"/>
                </a:solidFill>
              </a:rPr>
              <a:t>✔ Our Solution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60020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 xml:space="preserve">A smart, web-based system that </a:t>
            </a:r>
            <a:pPr indent="0" marL="0">
              <a:buNone/>
            </a:pPr>
            <a:r>
              <a:rPr lang="en-US" sz="1200" b="1" dirty="0">
                <a:solidFill>
                  <a:srgbClr val="363636"/>
                </a:solidFill>
              </a:rPr>
              <a:t>automates and centralizes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invigilation duty assignments with fairness and transparency.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" y="30175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5E"/>
                </a:solidFill>
              </a:rPr>
              <a:t>Key Features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74320" y="3401568"/>
            <a:ext cx="2011680" cy="1417320"/>
          </a:xfrm>
          <a:prstGeom prst="rect">
            <a:avLst/>
          </a:prstGeom>
          <a:solidFill>
            <a:srgbClr val="0D1B5E"/>
          </a:solidFill>
          <a:ln/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74320" y="3429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74320" y="38221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C3F7"/>
                </a:solidFill>
              </a:rPr>
              <a:t>Centralized Management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" y="4160520"/>
            <a:ext cx="201168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D4"/>
                </a:solidFill>
              </a:rPr>
              <a:t>Faculty, schedules &amp; rooms in one platform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450592" y="3401568"/>
            <a:ext cx="2011680" cy="1417320"/>
          </a:xfrm>
          <a:prstGeom prst="rect">
            <a:avLst/>
          </a:prstGeom>
          <a:solidFill>
            <a:srgbClr val="0D1B5E"/>
          </a:solidFill>
          <a:ln/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450592" y="3429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450592" y="38221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C3F7"/>
                </a:solidFill>
              </a:rPr>
              <a:t>Fair Distribution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450592" y="4160520"/>
            <a:ext cx="201168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D4"/>
                </a:solidFill>
              </a:rPr>
              <a:t>Based on availability &amp; workload balance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26864" y="3401568"/>
            <a:ext cx="2011680" cy="1417320"/>
          </a:xfrm>
          <a:prstGeom prst="rect">
            <a:avLst/>
          </a:prstGeom>
          <a:solidFill>
            <a:srgbClr val="0D1B5E"/>
          </a:solidFill>
          <a:ln/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626864" y="3429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626864" y="38221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C3F7"/>
                </a:solidFill>
              </a:rPr>
              <a:t>Notifications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26864" y="4160520"/>
            <a:ext cx="201168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D4"/>
                </a:solidFill>
              </a:rPr>
              <a:t>Real-time alerts to faculty members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803136" y="3401568"/>
            <a:ext cx="2011680" cy="1417320"/>
          </a:xfrm>
          <a:prstGeom prst="rect">
            <a:avLst/>
          </a:prstGeom>
          <a:solidFill>
            <a:srgbClr val="0D1B5E"/>
          </a:solidFill>
          <a:ln/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803136" y="3429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803136" y="38221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C3F7"/>
                </a:solidFill>
              </a:rPr>
              <a:t>Report Generation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03136" y="4160520"/>
            <a:ext cx="201168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D4"/>
                </a:solidFill>
              </a:rPr>
              <a:t>Duty charts for coordination &amp; records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2540A0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Project Objectives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2286000" cy="36576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914400"/>
            <a:ext cx="4114800" cy="1143000"/>
          </a:xfrm>
          <a:prstGeom prst="rect">
            <a:avLst/>
          </a:prstGeom>
          <a:solidFill>
            <a:srgbClr val="16206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14400"/>
            <a:ext cx="54864" cy="114300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98755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C3F7"/>
                </a:solidFill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84048" y="9875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Automate Duty Assignment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138988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D4"/>
                </a:solidFill>
              </a:rPr>
              <a:t>Eliminate manual, error-prone scheduling processes with intelligent automation.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14800" cy="1143000"/>
          </a:xfrm>
          <a:prstGeom prst="rect">
            <a:avLst/>
          </a:prstGeom>
          <a:solidFill>
            <a:srgbClr val="16206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914400"/>
            <a:ext cx="54864" cy="114300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3" name="Text 11"/>
          <p:cNvSpPr/>
          <p:nvPr/>
        </p:nvSpPr>
        <p:spPr>
          <a:xfrm>
            <a:off x="4818888" y="98755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C3F7"/>
                </a:solidFill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818888" y="9875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Ensure Fairness &amp; Balance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138988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D4"/>
                </a:solidFill>
              </a:rPr>
              <a:t>Distribute workload evenly based on faculty availability, department, and prior assignments.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240280"/>
            <a:ext cx="4114800" cy="1143000"/>
          </a:xfrm>
          <a:prstGeom prst="rect">
            <a:avLst/>
          </a:prstGeom>
          <a:solidFill>
            <a:srgbClr val="16206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240280"/>
            <a:ext cx="54864" cy="114300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" y="231343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C3F7"/>
                </a:solidFill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84048" y="23134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Reduce Conflicts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" y="271576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D4"/>
                </a:solidFill>
              </a:rPr>
              <a:t>Prevent scheduling clashes and overlapping duty allocations automatically.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240280"/>
            <a:ext cx="4114800" cy="1143000"/>
          </a:xfrm>
          <a:prstGeom prst="rect">
            <a:avLst/>
          </a:prstGeom>
          <a:solidFill>
            <a:srgbClr val="16206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2240280"/>
            <a:ext cx="54864" cy="114300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23" name="Text 21"/>
          <p:cNvSpPr/>
          <p:nvPr/>
        </p:nvSpPr>
        <p:spPr>
          <a:xfrm>
            <a:off x="4818888" y="231343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C3F7"/>
                </a:solidFill>
              </a:rPr>
              <a:t>04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818888" y="23134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Enhance Transparency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46320" y="271576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D4"/>
                </a:solidFill>
              </a:rPr>
              <a:t>Provide real-time access for both administrators and faculty members.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566160"/>
            <a:ext cx="4114800" cy="1143000"/>
          </a:xfrm>
          <a:prstGeom prst="rect">
            <a:avLst/>
          </a:prstGeom>
          <a:solidFill>
            <a:srgbClr val="16206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3566160"/>
            <a:ext cx="54864" cy="114300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28" name="Text 26"/>
          <p:cNvSpPr/>
          <p:nvPr/>
        </p:nvSpPr>
        <p:spPr>
          <a:xfrm>
            <a:off x="384048" y="363931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C3F7"/>
                </a:solidFill>
              </a:rPr>
              <a:t>05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384048" y="36393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Improve Efficiency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11480" y="404164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D4"/>
                </a:solidFill>
              </a:rPr>
              <a:t>Save administrative time and effort through streamlined operations.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3566160"/>
            <a:ext cx="4114800" cy="1143000"/>
          </a:xfrm>
          <a:prstGeom prst="rect">
            <a:avLst/>
          </a:prstGeom>
          <a:solidFill>
            <a:srgbClr val="16206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3566160"/>
            <a:ext cx="54864" cy="114300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3" name="Text 31"/>
          <p:cNvSpPr/>
          <p:nvPr/>
        </p:nvSpPr>
        <p:spPr>
          <a:xfrm>
            <a:off x="4818888" y="363931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C3F7"/>
                </a:solidFill>
              </a:rPr>
              <a:t>06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4818888" y="36393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Centralized Records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46320" y="404164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D4"/>
                </a:solidFill>
              </a:rPr>
              <a:t>Maintain organized duty charts, reports, and exam schedule data in one place.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Module Overview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FC3F7"/>
                </a:solidFill>
              </a:rPr>
              <a:t>4 Core Modules | 2 Team Members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170432"/>
            <a:ext cx="20116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170432"/>
            <a:ext cx="201168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130759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3075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28600" y="203911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🛡️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20040" y="2523744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3E"/>
                </a:solidFill>
              </a:rPr>
              <a:t>Administration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3E"/>
                </a:solidFill>
              </a:rPr>
              <a:t>Duty Allocation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273552"/>
            <a:ext cx="1371600" cy="2743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3" name="Text 11"/>
          <p:cNvSpPr/>
          <p:nvPr/>
        </p:nvSpPr>
        <p:spPr>
          <a:xfrm>
            <a:off x="228600" y="33832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Assigned To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" y="36393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LAHARI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8600" y="39593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2520090226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404872" y="1170432"/>
            <a:ext cx="20116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04872" y="1170432"/>
            <a:ext cx="2011680" cy="54864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8" name="Shape 16"/>
          <p:cNvSpPr/>
          <p:nvPr/>
        </p:nvSpPr>
        <p:spPr>
          <a:xfrm>
            <a:off x="3090672" y="1307592"/>
            <a:ext cx="640080" cy="640080"/>
          </a:xfrm>
          <a:prstGeom prst="ellipse">
            <a:avLst/>
          </a:prstGeom>
          <a:solidFill>
            <a:srgbClr val="00695C"/>
          </a:solidFill>
          <a:ln/>
        </p:spPr>
      </p:sp>
      <p:sp>
        <p:nvSpPr>
          <p:cNvPr id="19" name="Text 17"/>
          <p:cNvSpPr/>
          <p:nvPr/>
        </p:nvSpPr>
        <p:spPr>
          <a:xfrm>
            <a:off x="3090672" y="13075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404872" y="203911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📅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2496312" y="2523744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3E"/>
                </a:solidFill>
              </a:rPr>
              <a:t>Exam Scheduling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3E"/>
                </a:solidFill>
              </a:rPr>
              <a:t>Room Allocation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24912" y="3273552"/>
            <a:ext cx="1371600" cy="27432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23" name="Text 21"/>
          <p:cNvSpPr/>
          <p:nvPr/>
        </p:nvSpPr>
        <p:spPr>
          <a:xfrm>
            <a:off x="2404872" y="33832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Assigned To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404872" y="36393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95C"/>
                </a:solidFill>
              </a:rPr>
              <a:t>BHANU PRIYA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404872" y="39593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2520090171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81144" y="1170432"/>
            <a:ext cx="20116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81144" y="1170432"/>
            <a:ext cx="2011680" cy="54864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8" name="Shape 26"/>
          <p:cNvSpPr/>
          <p:nvPr/>
        </p:nvSpPr>
        <p:spPr>
          <a:xfrm>
            <a:off x="5266944" y="1307592"/>
            <a:ext cx="640080" cy="640080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29" name="Text 27"/>
          <p:cNvSpPr/>
          <p:nvPr/>
        </p:nvSpPr>
        <p:spPr>
          <a:xfrm>
            <a:off x="5266944" y="13075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81144" y="203911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4672584" y="2523744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3E"/>
                </a:solidFill>
              </a:rPr>
              <a:t>Invigilation Duty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3E"/>
                </a:solidFill>
              </a:rPr>
              <a:t>Assignment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901184" y="3273552"/>
            <a:ext cx="1371600" cy="27432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3" name="Text 31"/>
          <p:cNvSpPr/>
          <p:nvPr/>
        </p:nvSpPr>
        <p:spPr>
          <a:xfrm>
            <a:off x="4581144" y="33832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Assigned To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81144" y="36393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A1B9A"/>
                </a:solidFill>
              </a:rPr>
              <a:t>LAHARI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81144" y="39593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2520090226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757416" y="1170432"/>
            <a:ext cx="20116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757416" y="1170432"/>
            <a:ext cx="2011680" cy="54864"/>
          </a:xfrm>
          <a:prstGeom prst="rect">
            <a:avLst/>
          </a:prstGeom>
          <a:solidFill>
            <a:srgbClr val="BF360C"/>
          </a:solidFill>
          <a:ln/>
        </p:spPr>
      </p:sp>
      <p:sp>
        <p:nvSpPr>
          <p:cNvPr id="38" name="Shape 36"/>
          <p:cNvSpPr/>
          <p:nvPr/>
        </p:nvSpPr>
        <p:spPr>
          <a:xfrm>
            <a:off x="7443216" y="1307592"/>
            <a:ext cx="640080" cy="640080"/>
          </a:xfrm>
          <a:prstGeom prst="ellipse">
            <a:avLst/>
          </a:prstGeom>
          <a:solidFill>
            <a:srgbClr val="BF360C"/>
          </a:solidFill>
          <a:ln/>
        </p:spPr>
      </p:sp>
      <p:sp>
        <p:nvSpPr>
          <p:cNvPr id="39" name="Text 37"/>
          <p:cNvSpPr/>
          <p:nvPr/>
        </p:nvSpPr>
        <p:spPr>
          <a:xfrm>
            <a:off x="7443216" y="13075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757416" y="203911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📲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6848856" y="2523744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3E"/>
                </a:solidFill>
              </a:rPr>
              <a:t>Faculty Dashboard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3E"/>
                </a:solidFill>
              </a:rPr>
              <a:t>Notification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077456" y="3273552"/>
            <a:ext cx="1371600" cy="27432"/>
          </a:xfrm>
          <a:prstGeom prst="rect">
            <a:avLst/>
          </a:prstGeom>
          <a:solidFill>
            <a:srgbClr val="BF360C"/>
          </a:solidFill>
          <a:ln/>
        </p:spPr>
      </p:sp>
      <p:sp>
        <p:nvSpPr>
          <p:cNvPr id="43" name="Text 41"/>
          <p:cNvSpPr/>
          <p:nvPr/>
        </p:nvSpPr>
        <p:spPr>
          <a:xfrm>
            <a:off x="6757416" y="33832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Assigned To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757416" y="36393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F360C"/>
                </a:solidFill>
              </a:rPr>
              <a:t>BHANU PRIYA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757416" y="39593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2520090171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200400"/>
            <a:ext cx="2743200" cy="2743200"/>
          </a:xfrm>
          <a:prstGeom prst="ellipse">
            <a:avLst/>
          </a:prstGeom>
          <a:solidFill>
            <a:srgbClr val="1565C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64592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1565C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6459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417320" y="1645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Administration &amp; Duty Allocation Module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17320" y="6400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B5F6"/>
                </a:solidFill>
              </a:rPr>
              <a:t>Assigned to: LAHARI  (Roll No: 2520090226)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987552"/>
            <a:ext cx="8412480" cy="2743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4B5F6"/>
                </a:solidFill>
              </a:rPr>
              <a:t>Core Responsibilities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74320" y="1508760"/>
            <a:ext cx="4114800" cy="1463040"/>
          </a:xfrm>
          <a:prstGeom prst="rect">
            <a:avLst/>
          </a:prstGeom>
          <a:solidFill>
            <a:srgbClr val="162060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508760"/>
            <a:ext cx="54864" cy="14630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402336" y="16184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B5F6"/>
                </a:solidFill>
              </a:rPr>
              <a:t>👤  Faculty Detail Management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02336" y="198424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A4D4"/>
                </a:solidFill>
              </a:rPr>
              <a:t>Register, update, and manage complete faculty profiles including department and availability data.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09160" y="1508760"/>
            <a:ext cx="4114800" cy="1463040"/>
          </a:xfrm>
          <a:prstGeom prst="rect">
            <a:avLst/>
          </a:prstGeom>
          <a:solidFill>
            <a:srgbClr val="162060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508760"/>
            <a:ext cx="54864" cy="14630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6" name="Text 14"/>
          <p:cNvSpPr/>
          <p:nvPr/>
        </p:nvSpPr>
        <p:spPr>
          <a:xfrm>
            <a:off x="4837176" y="16184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B5F6"/>
                </a:solidFill>
              </a:rPr>
              <a:t>📋  Duty Assignment Control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37176" y="198424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A4D4"/>
                </a:solidFill>
              </a:rPr>
              <a:t>Assign, reassign, and oversee invigilation duties with audit trail and approval workflow.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3154680"/>
            <a:ext cx="4114800" cy="1463040"/>
          </a:xfrm>
          <a:prstGeom prst="rect">
            <a:avLst/>
          </a:prstGeom>
          <a:solidFill>
            <a:srgbClr val="162060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154680"/>
            <a:ext cx="54864" cy="14630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0" name="Text 18"/>
          <p:cNvSpPr/>
          <p:nvPr/>
        </p:nvSpPr>
        <p:spPr>
          <a:xfrm>
            <a:off x="402336" y="32644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B5F6"/>
                </a:solidFill>
              </a:rPr>
              <a:t>📊  Admin Dashboard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02336" y="363016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A4D4"/>
                </a:solidFill>
              </a:rPr>
              <a:t>Centralized view of all allocations, conflicts, and scheduling status in real-time.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09160" y="3154680"/>
            <a:ext cx="4114800" cy="1463040"/>
          </a:xfrm>
          <a:prstGeom prst="rect">
            <a:avLst/>
          </a:prstGeom>
          <a:solidFill>
            <a:srgbClr val="162060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3154680"/>
            <a:ext cx="54864" cy="14630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4" name="Text 22"/>
          <p:cNvSpPr/>
          <p:nvPr/>
        </p:nvSpPr>
        <p:spPr>
          <a:xfrm>
            <a:off x="4837176" y="32644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B5F6"/>
                </a:solidFill>
              </a:rPr>
              <a:t>⚙️  System Configuration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37176" y="363016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A4D4"/>
                </a:solidFill>
              </a:rPr>
              <a:t>Set rules for fair distribution, department quotas, and workload thresholds.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64592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00E5A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6459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3B33"/>
                </a:solidFill>
              </a:rPr>
              <a:t>MOD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3B33"/>
                </a:solidFill>
              </a:rPr>
              <a:t>02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417320" y="109728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Exam Scheduling &amp; Room Allocation Module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417320" y="5943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5D6A7"/>
                </a:solidFill>
              </a:rPr>
              <a:t>Assigned to: BHANU PRIYA  (Roll No: 2520090171)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95C"/>
                </a:solidFill>
              </a:rPr>
              <a:t>Core Responsibilities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4320" y="1536192"/>
            <a:ext cx="411480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536192"/>
            <a:ext cx="54864" cy="150876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1" name="Text 9"/>
          <p:cNvSpPr/>
          <p:nvPr/>
        </p:nvSpPr>
        <p:spPr>
          <a:xfrm>
            <a:off x="402336" y="16459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95C"/>
                </a:solidFill>
              </a:rPr>
              <a:t>🗓️  Exam Schedule Management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2336" y="20116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3636"/>
                </a:solidFill>
              </a:rPr>
              <a:t>Create and manage examination timetables including date, time, subject, and session details.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09160" y="1536192"/>
            <a:ext cx="411480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536192"/>
            <a:ext cx="54864" cy="150876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5" name="Text 13"/>
          <p:cNvSpPr/>
          <p:nvPr/>
        </p:nvSpPr>
        <p:spPr>
          <a:xfrm>
            <a:off x="4837176" y="16459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97B"/>
                </a:solidFill>
              </a:rPr>
              <a:t>🏫  Room Allocation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37176" y="20116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3636"/>
                </a:solidFill>
              </a:rPr>
              <a:t>Assign and optimize examination hall allocations to prevent conflicts and overcrowding.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182112"/>
            <a:ext cx="411480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182112"/>
            <a:ext cx="54864" cy="150876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9" name="Text 17"/>
          <p:cNvSpPr/>
          <p:nvPr/>
        </p:nvSpPr>
        <p:spPr>
          <a:xfrm>
            <a:off x="402336" y="32918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95C"/>
                </a:solidFill>
              </a:rPr>
              <a:t>🔄  Conflict Detection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02336" y="36576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3636"/>
                </a:solidFill>
              </a:rPr>
              <a:t>Automatically detect and flag scheduling conflicts, duplicate room bookings or overlaps.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09160" y="3182112"/>
            <a:ext cx="411480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3182112"/>
            <a:ext cx="54864" cy="150876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3" name="Text 21"/>
          <p:cNvSpPr/>
          <p:nvPr/>
        </p:nvSpPr>
        <p:spPr>
          <a:xfrm>
            <a:off x="4837176" y="32918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97B"/>
                </a:solidFill>
              </a:rPr>
              <a:t>📁  Schedule Records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37176" y="36576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3636"/>
                </a:solidFill>
              </a:rPr>
              <a:t>Maintain organized records of past and upcoming exam schedules for reference.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457200"/>
            <a:ext cx="2286000" cy="2286000"/>
          </a:xfrm>
          <a:prstGeom prst="ellipse">
            <a:avLst/>
          </a:prstGeom>
          <a:solidFill>
            <a:srgbClr val="6A1B9A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64592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7B1FA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6459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417320" y="16459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Invigilation Duty Assignment Module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17320" y="6400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E93D8"/>
                </a:solidFill>
              </a:rPr>
              <a:t>Assigned to: LAHARI  (Roll No: 2520090226)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987552"/>
            <a:ext cx="8412480" cy="27432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0972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E93D8"/>
                </a:solidFill>
              </a:rPr>
              <a:t>Duty Assignment Flow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1554480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162060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" y="1737360"/>
            <a:ext cx="502920" cy="502920"/>
          </a:xfrm>
          <a:prstGeom prst="ellipse">
            <a:avLst/>
          </a:prstGeom>
          <a:solidFill>
            <a:srgbClr val="7B1FA2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16916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Input Faculty Data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1554480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162060"/>
          </a:solidFill>
          <a:ln/>
        </p:spPr>
      </p:sp>
      <p:sp>
        <p:nvSpPr>
          <p:cNvPr id="15" name="Shape 13"/>
          <p:cNvSpPr/>
          <p:nvPr/>
        </p:nvSpPr>
        <p:spPr>
          <a:xfrm>
            <a:off x="3291840" y="1737360"/>
            <a:ext cx="502920" cy="502920"/>
          </a:xfrm>
          <a:prstGeom prst="ellipse">
            <a:avLst/>
          </a:prstGeom>
          <a:solidFill>
            <a:srgbClr val="7B1FA2"/>
          </a:solidFill>
          <a:ln/>
        </p:spPr>
      </p:sp>
      <p:sp>
        <p:nvSpPr>
          <p:cNvPr id="16" name="Text 14"/>
          <p:cNvSpPr/>
          <p:nvPr/>
        </p:nvSpPr>
        <p:spPr>
          <a:xfrm>
            <a:off x="329184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86200" y="16916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Check Availability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554480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162060"/>
          </a:solidFill>
          <a:ln/>
        </p:spPr>
      </p:sp>
      <p:sp>
        <p:nvSpPr>
          <p:cNvPr id="19" name="Shape 17"/>
          <p:cNvSpPr/>
          <p:nvPr/>
        </p:nvSpPr>
        <p:spPr>
          <a:xfrm>
            <a:off x="6217920" y="1737360"/>
            <a:ext cx="502920" cy="502920"/>
          </a:xfrm>
          <a:prstGeom prst="ellipse">
            <a:avLst/>
          </a:prstGeom>
          <a:solidFill>
            <a:srgbClr val="7B1FA2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12280" y="16916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Apply Fairness Rules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651760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162060"/>
          </a:solidFill>
          <a:ln/>
        </p:spPr>
      </p:sp>
      <p:sp>
        <p:nvSpPr>
          <p:cNvPr id="23" name="Shape 21"/>
          <p:cNvSpPr/>
          <p:nvPr/>
        </p:nvSpPr>
        <p:spPr>
          <a:xfrm>
            <a:off x="365760" y="2834640"/>
            <a:ext cx="502920" cy="502920"/>
          </a:xfrm>
          <a:prstGeom prst="ellipse">
            <a:avLst/>
          </a:prstGeom>
          <a:solidFill>
            <a:srgbClr val="7B1FA2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60120" y="27889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Generate Assignments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0" y="2651760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162060"/>
          </a:solidFill>
          <a:ln/>
        </p:spPr>
      </p:sp>
      <p:sp>
        <p:nvSpPr>
          <p:cNvPr id="27" name="Shape 25"/>
          <p:cNvSpPr/>
          <p:nvPr/>
        </p:nvSpPr>
        <p:spPr>
          <a:xfrm>
            <a:off x="3291840" y="2834640"/>
            <a:ext cx="502920" cy="502920"/>
          </a:xfrm>
          <a:prstGeom prst="ellipse">
            <a:avLst/>
          </a:prstGeom>
          <a:solidFill>
            <a:srgbClr val="7B1FA2"/>
          </a:solidFill>
          <a:ln/>
        </p:spPr>
      </p:sp>
      <p:sp>
        <p:nvSpPr>
          <p:cNvPr id="28" name="Text 26"/>
          <p:cNvSpPr/>
          <p:nvPr/>
        </p:nvSpPr>
        <p:spPr>
          <a:xfrm>
            <a:off x="329184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886200" y="27889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Conflict Resolution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26480" y="2651760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162060"/>
          </a:solidFill>
          <a:ln/>
        </p:spPr>
      </p:sp>
      <p:sp>
        <p:nvSpPr>
          <p:cNvPr id="31" name="Shape 29"/>
          <p:cNvSpPr/>
          <p:nvPr/>
        </p:nvSpPr>
        <p:spPr>
          <a:xfrm>
            <a:off x="6217920" y="2834640"/>
            <a:ext cx="502920" cy="502920"/>
          </a:xfrm>
          <a:prstGeom prst="ellipse">
            <a:avLst/>
          </a:prstGeom>
          <a:solidFill>
            <a:srgbClr val="7B1FA2"/>
          </a:solidFill>
          <a:ln/>
        </p:spPr>
      </p:sp>
      <p:sp>
        <p:nvSpPr>
          <p:cNvPr id="32" name="Text 30"/>
          <p:cNvSpPr/>
          <p:nvPr/>
        </p:nvSpPr>
        <p:spPr>
          <a:xfrm>
            <a:off x="621792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812280" y="27889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Final Allocation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65760" y="3703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E93D8"/>
                </a:solidFill>
              </a:rPr>
              <a:t>Key Capabilities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74320" y="4050792"/>
            <a:ext cx="2011680" cy="749808"/>
          </a:xfrm>
          <a:prstGeom prst="roundRect">
            <a:avLst>
              <a:gd name="adj" fmla="val 9756"/>
            </a:avLst>
          </a:prstGeom>
          <a:solidFill>
            <a:srgbClr val="162060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" y="4050792"/>
            <a:ext cx="2011680" cy="74980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A4D4"/>
                </a:solidFill>
              </a:rPr>
              <a:t>✔ Auto-allocate based on workload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450592" y="4050792"/>
            <a:ext cx="2011680" cy="749808"/>
          </a:xfrm>
          <a:prstGeom prst="roundRect">
            <a:avLst>
              <a:gd name="adj" fmla="val 9756"/>
            </a:avLst>
          </a:prstGeom>
          <a:solidFill>
            <a:srgbClr val="162060"/>
          </a:solidFill>
          <a:ln/>
        </p:spPr>
      </p:sp>
      <p:sp>
        <p:nvSpPr>
          <p:cNvPr id="38" name="Text 36"/>
          <p:cNvSpPr/>
          <p:nvPr/>
        </p:nvSpPr>
        <p:spPr>
          <a:xfrm>
            <a:off x="2450592" y="4050792"/>
            <a:ext cx="2011680" cy="74980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A4D4"/>
                </a:solidFill>
              </a:rPr>
              <a:t>✔ Avoid duplicate assignments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26864" y="4050792"/>
            <a:ext cx="2011680" cy="749808"/>
          </a:xfrm>
          <a:prstGeom prst="roundRect">
            <a:avLst>
              <a:gd name="adj" fmla="val 9756"/>
            </a:avLst>
          </a:prstGeom>
          <a:solidFill>
            <a:srgbClr val="162060"/>
          </a:solidFill>
          <a:ln/>
        </p:spPr>
      </p:sp>
      <p:sp>
        <p:nvSpPr>
          <p:cNvPr id="40" name="Text 38"/>
          <p:cNvSpPr/>
          <p:nvPr/>
        </p:nvSpPr>
        <p:spPr>
          <a:xfrm>
            <a:off x="4626864" y="4050792"/>
            <a:ext cx="2011680" cy="74980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A4D4"/>
                </a:solidFill>
              </a:rPr>
              <a:t>✔ Department-wise distribution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803136" y="4050792"/>
            <a:ext cx="2011680" cy="749808"/>
          </a:xfrm>
          <a:prstGeom prst="roundRect">
            <a:avLst>
              <a:gd name="adj" fmla="val 9756"/>
            </a:avLst>
          </a:prstGeom>
          <a:solidFill>
            <a:srgbClr val="162060"/>
          </a:solidFill>
          <a:ln/>
        </p:spPr>
      </p:sp>
      <p:sp>
        <p:nvSpPr>
          <p:cNvPr id="42" name="Text 40"/>
          <p:cNvSpPr/>
          <p:nvPr/>
        </p:nvSpPr>
        <p:spPr>
          <a:xfrm>
            <a:off x="6803136" y="4050792"/>
            <a:ext cx="2011680" cy="74980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A4D4"/>
                </a:solidFill>
              </a:rPr>
              <a:t>✔ Override &amp; manual adjustments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BF36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FFD54F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64592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FFD54F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6459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E342E"/>
                </a:solidFill>
              </a:rPr>
              <a:t>MOD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4E342E"/>
                </a:solidFill>
              </a:rPr>
              <a:t>04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417320" y="109728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Faculty Dashboard &amp; Notification Module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417320" y="5943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CCBC"/>
                </a:solidFill>
              </a:rPr>
              <a:t>Assigned to: BHANU PRIYA  (Roll No: 2520090171)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115568"/>
            <a:ext cx="4754880" cy="3749040"/>
          </a:xfrm>
          <a:prstGeom prst="rect">
            <a:avLst/>
          </a:prstGeom>
          <a:solidFill>
            <a:srgbClr val="0D1B5E"/>
          </a:solidFill>
          <a:ln/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115568"/>
            <a:ext cx="4754880" cy="411480"/>
          </a:xfrm>
          <a:prstGeom prst="rect">
            <a:avLst/>
          </a:prstGeom>
          <a:solidFill>
            <a:srgbClr val="BF360C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11556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🖥  Faculty Dashboard — Preview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664208"/>
            <a:ext cx="4663440" cy="438912"/>
          </a:xfrm>
          <a:prstGeom prst="rect">
            <a:avLst/>
          </a:prstGeom>
          <a:solidFill>
            <a:srgbClr val="16206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66420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A4D4"/>
                </a:solidFill>
              </a:rPr>
              <a:t>📅 Exam Date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200400" y="166420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C3F7"/>
                </a:solidFill>
              </a:rPr>
              <a:t>12-June-2025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167128"/>
            <a:ext cx="4663440" cy="438912"/>
          </a:xfrm>
          <a:prstGeom prst="rect">
            <a:avLst/>
          </a:prstGeom>
          <a:solidFill>
            <a:srgbClr val="1A2B80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16712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A4D4"/>
                </a:solidFill>
              </a:rPr>
              <a:t>⏰ Reporting Time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200400" y="216712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C3F7"/>
                </a:solidFill>
              </a:rPr>
              <a:t>8:30 AM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2670048"/>
            <a:ext cx="4663440" cy="438912"/>
          </a:xfrm>
          <a:prstGeom prst="rect">
            <a:avLst/>
          </a:prstGeom>
          <a:solidFill>
            <a:srgbClr val="16206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67004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A4D4"/>
                </a:solidFill>
              </a:rPr>
              <a:t>🏫 Room Number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200400" y="267004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C3F7"/>
                </a:solidFill>
              </a:rPr>
              <a:t>Hall A-201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172968"/>
            <a:ext cx="4663440" cy="438912"/>
          </a:xfrm>
          <a:prstGeom prst="rect">
            <a:avLst/>
          </a:prstGeom>
          <a:solidFill>
            <a:srgbClr val="1A2B80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17296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A4D4"/>
                </a:solidFill>
              </a:rPr>
              <a:t>📚 Subject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00400" y="317296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C3F7"/>
                </a:solidFill>
              </a:rPr>
              <a:t>Frontend Dev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3675888"/>
            <a:ext cx="4663440" cy="438912"/>
          </a:xfrm>
          <a:prstGeom prst="rect">
            <a:avLst/>
          </a:prstGeom>
          <a:solidFill>
            <a:srgbClr val="162060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67588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A4D4"/>
                </a:solidFill>
              </a:rPr>
              <a:t>👤 Assigned By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200400" y="367588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C3F7"/>
                </a:solidFill>
              </a:rPr>
              <a:t>Admin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" y="4178808"/>
            <a:ext cx="4663440" cy="438912"/>
          </a:xfrm>
          <a:prstGeom prst="rect">
            <a:avLst/>
          </a:prstGeom>
          <a:solidFill>
            <a:srgbClr val="1A2B80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17880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A4D4"/>
                </a:solidFill>
              </a:rPr>
              <a:t>🔔 Status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200400" y="417880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C3F7"/>
                </a:solidFill>
              </a:rPr>
              <a:t>Confirmed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212080" y="1115568"/>
            <a:ext cx="3657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212080" y="1115568"/>
            <a:ext cx="54864" cy="822960"/>
          </a:xfrm>
          <a:prstGeom prst="rect">
            <a:avLst/>
          </a:prstGeom>
          <a:solidFill>
            <a:srgbClr val="BF360C"/>
          </a:solidFill>
          <a:ln/>
        </p:spPr>
      </p:sp>
      <p:sp>
        <p:nvSpPr>
          <p:cNvPr id="31" name="Text 29"/>
          <p:cNvSpPr/>
          <p:nvPr/>
        </p:nvSpPr>
        <p:spPr>
          <a:xfrm>
            <a:off x="5349240" y="117957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F360C"/>
                </a:solidFill>
              </a:rPr>
              <a:t>🔔 Notifications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49240" y="151790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</a:rPr>
              <a:t>Instant alerts sent to faculty for new or changed duty assignments.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212080" y="2048256"/>
            <a:ext cx="3657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212080" y="2048256"/>
            <a:ext cx="54864" cy="822960"/>
          </a:xfrm>
          <a:prstGeom prst="rect">
            <a:avLst/>
          </a:prstGeom>
          <a:solidFill>
            <a:srgbClr val="BF360C"/>
          </a:solidFill>
          <a:ln/>
        </p:spPr>
      </p:sp>
      <p:sp>
        <p:nvSpPr>
          <p:cNvPr id="35" name="Text 33"/>
          <p:cNvSpPr/>
          <p:nvPr/>
        </p:nvSpPr>
        <p:spPr>
          <a:xfrm>
            <a:off x="5349240" y="211226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F360C"/>
                </a:solidFill>
              </a:rPr>
              <a:t>📊 Duty History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349240" y="24505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</a:rPr>
              <a:t>Faculty can view past and upcoming invigilation records anytime.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212080" y="2980944"/>
            <a:ext cx="3657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212080" y="2980944"/>
            <a:ext cx="54864" cy="822960"/>
          </a:xfrm>
          <a:prstGeom prst="rect">
            <a:avLst/>
          </a:prstGeom>
          <a:solidFill>
            <a:srgbClr val="BF360C"/>
          </a:solidFill>
          <a:ln/>
        </p:spPr>
      </p:sp>
      <p:sp>
        <p:nvSpPr>
          <p:cNvPr id="39" name="Text 37"/>
          <p:cNvSpPr/>
          <p:nvPr/>
        </p:nvSpPr>
        <p:spPr>
          <a:xfrm>
            <a:off x="5349240" y="30449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F360C"/>
                </a:solidFill>
              </a:rPr>
              <a:t>🔐 Secure Login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349240" y="33832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</a:rPr>
              <a:t>Credential-based authentication for safe access to personal duty info.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212080" y="3913632"/>
            <a:ext cx="3657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212080" y="3913632"/>
            <a:ext cx="54864" cy="822960"/>
          </a:xfrm>
          <a:prstGeom prst="rect">
            <a:avLst/>
          </a:prstGeom>
          <a:solidFill>
            <a:srgbClr val="BF360C"/>
          </a:solidFill>
          <a:ln/>
        </p:spPr>
      </p:sp>
      <p:sp>
        <p:nvSpPr>
          <p:cNvPr id="43" name="Text 41"/>
          <p:cNvSpPr/>
          <p:nvPr/>
        </p:nvSpPr>
        <p:spPr>
          <a:xfrm>
            <a:off x="5349240" y="39776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F360C"/>
                </a:solidFill>
              </a:rPr>
              <a:t>📄 Report Access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349240" y="431596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</a:rPr>
              <a:t>Download or view duty charts and official invigilation reports.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2540A0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Technology Stack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FC3F7"/>
                </a:solidFill>
              </a:rPr>
              <a:t>Frameworks, Platforms &amp; Tools Used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8321040" cy="27432"/>
          </a:xfrm>
          <a:prstGeom prst="rect">
            <a:avLst/>
          </a:prstGeom>
          <a:solidFill>
            <a:srgbClr val="2540A0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097280"/>
            <a:ext cx="2011680" cy="3474720"/>
          </a:xfrm>
          <a:prstGeom prst="rect">
            <a:avLst/>
          </a:prstGeom>
          <a:solidFill>
            <a:srgbClr val="16206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97280"/>
            <a:ext cx="2011680" cy="54864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2344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🎨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74320" y="17556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5100"/>
                </a:solidFill>
              </a:rPr>
              <a:t>Frontend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2167128"/>
            <a:ext cx="1371600" cy="36576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331720"/>
            <a:ext cx="1645920" cy="457200"/>
          </a:xfrm>
          <a:prstGeom prst="roundRect">
            <a:avLst>
              <a:gd name="adj" fmla="val 12000"/>
            </a:avLst>
          </a:prstGeom>
          <a:solidFill>
            <a:srgbClr val="1A2B8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331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HTML5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1645920" cy="457200"/>
          </a:xfrm>
          <a:prstGeom prst="roundRect">
            <a:avLst>
              <a:gd name="adj" fmla="val 12000"/>
            </a:avLst>
          </a:prstGeom>
          <a:solidFill>
            <a:srgbClr val="1A2B80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26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CSS3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1645920" cy="457200"/>
          </a:xfrm>
          <a:prstGeom prst="roundRect">
            <a:avLst>
              <a:gd name="adj" fmla="val 12000"/>
            </a:avLst>
          </a:prstGeom>
          <a:solidFill>
            <a:srgbClr val="1A2B8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520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JavaScript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450592" y="1097280"/>
            <a:ext cx="2011680" cy="3474720"/>
          </a:xfrm>
          <a:prstGeom prst="rect">
            <a:avLst/>
          </a:prstGeom>
          <a:solidFill>
            <a:srgbClr val="16206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450592" y="1097280"/>
            <a:ext cx="201168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0" name="Text 18"/>
          <p:cNvSpPr/>
          <p:nvPr/>
        </p:nvSpPr>
        <p:spPr>
          <a:xfrm>
            <a:off x="2450592" y="12344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2450592" y="17556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65C0"/>
                </a:solidFill>
              </a:rPr>
              <a:t>Backend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770632" y="2167128"/>
            <a:ext cx="1371600" cy="3657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3" name="Shape 21"/>
          <p:cNvSpPr/>
          <p:nvPr/>
        </p:nvSpPr>
        <p:spPr>
          <a:xfrm>
            <a:off x="2633472" y="2331720"/>
            <a:ext cx="1645920" cy="457200"/>
          </a:xfrm>
          <a:prstGeom prst="roundRect">
            <a:avLst>
              <a:gd name="adj" fmla="val 12000"/>
            </a:avLst>
          </a:prstGeom>
          <a:solidFill>
            <a:srgbClr val="1A2B80"/>
          </a:solidFill>
          <a:ln/>
        </p:spPr>
      </p:sp>
      <p:sp>
        <p:nvSpPr>
          <p:cNvPr id="24" name="Text 22"/>
          <p:cNvSpPr/>
          <p:nvPr/>
        </p:nvSpPr>
        <p:spPr>
          <a:xfrm>
            <a:off x="2633472" y="2331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PHP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633472" y="2926080"/>
            <a:ext cx="1645920" cy="457200"/>
          </a:xfrm>
          <a:prstGeom prst="roundRect">
            <a:avLst>
              <a:gd name="adj" fmla="val 12000"/>
            </a:avLst>
          </a:prstGeom>
          <a:solidFill>
            <a:srgbClr val="1A2B80"/>
          </a:solidFill>
          <a:ln/>
        </p:spPr>
      </p:sp>
      <p:sp>
        <p:nvSpPr>
          <p:cNvPr id="26" name="Text 24"/>
          <p:cNvSpPr/>
          <p:nvPr/>
        </p:nvSpPr>
        <p:spPr>
          <a:xfrm>
            <a:off x="2633472" y="2926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Node.js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26864" y="1097280"/>
            <a:ext cx="2011680" cy="3474720"/>
          </a:xfrm>
          <a:prstGeom prst="rect">
            <a:avLst/>
          </a:prstGeom>
          <a:solidFill>
            <a:srgbClr val="16206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26864" y="1097280"/>
            <a:ext cx="2011680" cy="54864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29" name="Text 27"/>
          <p:cNvSpPr/>
          <p:nvPr/>
        </p:nvSpPr>
        <p:spPr>
          <a:xfrm>
            <a:off x="4626864" y="12344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🗄️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4626864" y="17556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95C"/>
                </a:solidFill>
              </a:rPr>
              <a:t>Database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946904" y="2167128"/>
            <a:ext cx="1371600" cy="36576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32" name="Shape 30"/>
          <p:cNvSpPr/>
          <p:nvPr/>
        </p:nvSpPr>
        <p:spPr>
          <a:xfrm>
            <a:off x="4809744" y="2331720"/>
            <a:ext cx="1645920" cy="457200"/>
          </a:xfrm>
          <a:prstGeom prst="roundRect">
            <a:avLst>
              <a:gd name="adj" fmla="val 12000"/>
            </a:avLst>
          </a:prstGeom>
          <a:solidFill>
            <a:srgbClr val="1A2B80"/>
          </a:solidFill>
          <a:ln/>
        </p:spPr>
      </p:sp>
      <p:sp>
        <p:nvSpPr>
          <p:cNvPr id="33" name="Text 31"/>
          <p:cNvSpPr/>
          <p:nvPr/>
        </p:nvSpPr>
        <p:spPr>
          <a:xfrm>
            <a:off x="4809744" y="2331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MySQL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803136" y="1097280"/>
            <a:ext cx="2011680" cy="3474720"/>
          </a:xfrm>
          <a:prstGeom prst="rect">
            <a:avLst/>
          </a:prstGeom>
          <a:solidFill>
            <a:srgbClr val="16206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803136" y="1097280"/>
            <a:ext cx="2011680" cy="54864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6" name="Text 34"/>
          <p:cNvSpPr/>
          <p:nvPr/>
        </p:nvSpPr>
        <p:spPr>
          <a:xfrm>
            <a:off x="6803136" y="12344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🛠️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6803136" y="17556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A1B9A"/>
                </a:solidFill>
              </a:rPr>
              <a:t>Dev Tools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7123176" y="2167128"/>
            <a:ext cx="1371600" cy="36576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9" name="Shape 37"/>
          <p:cNvSpPr/>
          <p:nvPr/>
        </p:nvSpPr>
        <p:spPr>
          <a:xfrm>
            <a:off x="6986016" y="2331720"/>
            <a:ext cx="1645920" cy="457200"/>
          </a:xfrm>
          <a:prstGeom prst="roundRect">
            <a:avLst>
              <a:gd name="adj" fmla="val 12000"/>
            </a:avLst>
          </a:prstGeom>
          <a:solidFill>
            <a:srgbClr val="1A2B80"/>
          </a:solidFill>
          <a:ln/>
        </p:spPr>
      </p:sp>
      <p:sp>
        <p:nvSpPr>
          <p:cNvPr id="40" name="Text 38"/>
          <p:cNvSpPr/>
          <p:nvPr/>
        </p:nvSpPr>
        <p:spPr>
          <a:xfrm>
            <a:off x="6986016" y="2331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VS Code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986016" y="2926080"/>
            <a:ext cx="1645920" cy="457200"/>
          </a:xfrm>
          <a:prstGeom prst="roundRect">
            <a:avLst>
              <a:gd name="adj" fmla="val 12000"/>
            </a:avLst>
          </a:prstGeom>
          <a:solidFill>
            <a:srgbClr val="1A2B80"/>
          </a:solidFill>
          <a:ln/>
        </p:spPr>
      </p:sp>
      <p:sp>
        <p:nvSpPr>
          <p:cNvPr id="42" name="Text 40"/>
          <p:cNvSpPr/>
          <p:nvPr/>
        </p:nvSpPr>
        <p:spPr>
          <a:xfrm>
            <a:off x="6986016" y="2926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Google Chrome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System Workflow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FC3F7"/>
                </a:solidFill>
              </a:rPr>
              <a:t>How the Examination Invigilation Duty Allocator Works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16736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31673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1316736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</a:rPr>
              <a:t>Admin Login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01168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</a:rPr>
              <a:t>Administrator logs in to the system with secure credentials.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971800" y="1645920"/>
            <a:ext cx="164592" cy="2743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Shape 10"/>
          <p:cNvSpPr/>
          <p:nvPr/>
        </p:nvSpPr>
        <p:spPr>
          <a:xfrm>
            <a:off x="3136392" y="1115568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19272" y="1316736"/>
            <a:ext cx="640080" cy="640080"/>
          </a:xfrm>
          <a:prstGeom prst="ellipse">
            <a:avLst/>
          </a:prstGeom>
          <a:solidFill>
            <a:srgbClr val="00695C"/>
          </a:solidFill>
          <a:ln/>
        </p:spPr>
      </p:sp>
      <p:sp>
        <p:nvSpPr>
          <p:cNvPr id="14" name="Text 12"/>
          <p:cNvSpPr/>
          <p:nvPr/>
        </p:nvSpPr>
        <p:spPr>
          <a:xfrm>
            <a:off x="3319272" y="131673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050792" y="1316736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95C"/>
                </a:solidFill>
              </a:rPr>
              <a:t>Setup Data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73552" y="201168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</a:rPr>
              <a:t>Add faculty profiles, exam schedules, and room details.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79592" y="1645920"/>
            <a:ext cx="164592" cy="27432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8" name="Shape 16"/>
          <p:cNvSpPr/>
          <p:nvPr/>
        </p:nvSpPr>
        <p:spPr>
          <a:xfrm>
            <a:off x="6044184" y="1115568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27064" y="1316736"/>
            <a:ext cx="640080" cy="640080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20" name="Text 18"/>
          <p:cNvSpPr/>
          <p:nvPr/>
        </p:nvSpPr>
        <p:spPr>
          <a:xfrm>
            <a:off x="6227064" y="131673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958584" y="1316736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1B9A"/>
                </a:solidFill>
              </a:rPr>
              <a:t>Auto-Allocate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81344" y="201168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</a:rPr>
              <a:t>System assigns duties based on rules, availability &amp; fairness.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28600" y="2944368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1480" y="3145536"/>
            <a:ext cx="640080" cy="640080"/>
          </a:xfrm>
          <a:prstGeom prst="ellipse">
            <a:avLst/>
          </a:prstGeom>
          <a:solidFill>
            <a:srgbClr val="BF360C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314553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43000" y="3145536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F360C"/>
                </a:solidFill>
              </a:rPr>
              <a:t>Review &amp; Approve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5760" y="384048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</a:rPr>
              <a:t>Admin reviews assignments and resolves any conflicts.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971800" y="3474720"/>
            <a:ext cx="164592" cy="27432"/>
          </a:xfrm>
          <a:prstGeom prst="rect">
            <a:avLst/>
          </a:prstGeom>
          <a:solidFill>
            <a:srgbClr val="BF360C"/>
          </a:solidFill>
          <a:ln/>
        </p:spPr>
      </p:sp>
      <p:sp>
        <p:nvSpPr>
          <p:cNvPr id="29" name="Shape 27"/>
          <p:cNvSpPr/>
          <p:nvPr/>
        </p:nvSpPr>
        <p:spPr>
          <a:xfrm>
            <a:off x="3136392" y="2944368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319272" y="3145536"/>
            <a:ext cx="640080" cy="640080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31" name="Text 29"/>
          <p:cNvSpPr/>
          <p:nvPr/>
        </p:nvSpPr>
        <p:spPr>
          <a:xfrm>
            <a:off x="3319272" y="314553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050792" y="3145536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</a:rPr>
              <a:t>Notify Faculty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273552" y="384048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</a:rPr>
              <a:t>Faculty receive notifications with full duty details.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879592" y="3474720"/>
            <a:ext cx="164592" cy="2743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5" name="Shape 33"/>
          <p:cNvSpPr/>
          <p:nvPr/>
        </p:nvSpPr>
        <p:spPr>
          <a:xfrm>
            <a:off x="6044184" y="2944368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27064" y="3145536"/>
            <a:ext cx="640080" cy="640080"/>
          </a:xfrm>
          <a:prstGeom prst="ellipse">
            <a:avLst/>
          </a:prstGeom>
          <a:solidFill>
            <a:srgbClr val="00695C"/>
          </a:solidFill>
          <a:ln/>
        </p:spPr>
      </p:sp>
      <p:sp>
        <p:nvSpPr>
          <p:cNvPr id="37" name="Text 35"/>
          <p:cNvSpPr/>
          <p:nvPr/>
        </p:nvSpPr>
        <p:spPr>
          <a:xfrm>
            <a:off x="6227064" y="314553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958584" y="3145536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95C"/>
                </a:solidFill>
              </a:rPr>
              <a:t>Faculty Access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181344" y="384048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</a:rPr>
              <a:t>Faculty log in to view duties, dates, timings &amp; hall info.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0" y="4114800"/>
            <a:ext cx="3200400" cy="3200400"/>
          </a:xfrm>
          <a:prstGeom prst="ellipse">
            <a:avLst/>
          </a:prstGeom>
          <a:solidFill>
            <a:srgbClr val="2540A0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Team Details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2286000" cy="36576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960120"/>
            <a:ext cx="4206240" cy="3840480"/>
          </a:xfrm>
          <a:prstGeom prst="rect">
            <a:avLst/>
          </a:prstGeom>
          <a:solidFill>
            <a:srgbClr val="162060"/>
          </a:solidFill>
          <a:ln/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0120"/>
            <a:ext cx="4206240" cy="640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8" name="Shape 6"/>
          <p:cNvSpPr/>
          <p:nvPr/>
        </p:nvSpPr>
        <p:spPr>
          <a:xfrm>
            <a:off x="1737360" y="1097280"/>
            <a:ext cx="1280160" cy="128016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0" y="109728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1371600" y="2487168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1565C0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24871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Team Lead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" y="290779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LAHARI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74320" y="32918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A4D4"/>
                </a:solidFill>
              </a:rPr>
              <a:t>Roll No: 2520090226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657600"/>
            <a:ext cx="3291840" cy="2743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37490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0A4D4"/>
                </a:solidFill>
              </a:rPr>
              <a:t>Modules Handled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4069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C3F7"/>
                </a:solidFill>
              </a:rPr>
              <a:t>• Administration &amp; Duty Allocation Module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44165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C3F7"/>
                </a:solidFill>
              </a:rPr>
              <a:t>• Invigilation Duty Assignment Module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960120"/>
            <a:ext cx="4206240" cy="3840480"/>
          </a:xfrm>
          <a:prstGeom prst="rect">
            <a:avLst/>
          </a:prstGeom>
          <a:solidFill>
            <a:srgbClr val="162060"/>
          </a:solidFill>
          <a:ln/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960120"/>
            <a:ext cx="4206240" cy="64008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20" name="Shape 18"/>
          <p:cNvSpPr/>
          <p:nvPr/>
        </p:nvSpPr>
        <p:spPr>
          <a:xfrm>
            <a:off x="6309360" y="1097280"/>
            <a:ext cx="1280160" cy="1280160"/>
          </a:xfrm>
          <a:prstGeom prst="ellipse">
            <a:avLst/>
          </a:prstGeom>
          <a:solidFill>
            <a:srgbClr val="00695C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109728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B</a:t>
            </a:r>
            <a:endParaRPr lang="en-US" sz="3600" dirty="0"/>
          </a:p>
        </p:txBody>
      </p:sp>
      <p:sp>
        <p:nvSpPr>
          <p:cNvPr id="22" name="Shape 20"/>
          <p:cNvSpPr/>
          <p:nvPr/>
        </p:nvSpPr>
        <p:spPr>
          <a:xfrm>
            <a:off x="5943600" y="2487168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00695C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0" y="24871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Team Member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290779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BHANU PRIYA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846320" y="32918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A4D4"/>
                </a:solidFill>
              </a:rPr>
              <a:t>Roll No: 2520090171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303520" y="3657600"/>
            <a:ext cx="3291840" cy="27432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37490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0A4D4"/>
                </a:solidFill>
              </a:rPr>
              <a:t>Modules Handled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20640" y="4069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C3F7"/>
                </a:solidFill>
              </a:rPr>
              <a:t>• Exam Scheduling &amp; Room Allocation Module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20640" y="44165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C3F7"/>
                </a:solidFill>
              </a:rPr>
              <a:t>• Faculty Dashboard &amp; Notification Module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2540A0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371600" y="-457200"/>
            <a:ext cx="3200400" cy="3200400"/>
          </a:xfrm>
          <a:prstGeom prst="ellipse">
            <a:avLst/>
          </a:prstGeom>
          <a:solidFill>
            <a:srgbClr val="0288D1">
              <a:alpha val="1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822960"/>
            <a:ext cx="2743200" cy="36576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601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A4D4"/>
                </a:solidFill>
              </a:rPr>
              <a:t>The Examination Invigilation Duty Allocator is a modern, web-based solution that brings efficiency, fairness, and transparency to one of the most tedious administrative tasks in academic institutions.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046720" cy="530352"/>
          </a:xfrm>
          <a:prstGeom prst="rect">
            <a:avLst/>
          </a:prstGeom>
          <a:solidFill>
            <a:srgbClr val="16206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92024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</a:rPr>
              <a:t>✔ Automates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51760" y="1920240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Manual duty allocation completely eliminated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514600"/>
            <a:ext cx="8046720" cy="530352"/>
          </a:xfrm>
          <a:prstGeom prst="rect">
            <a:avLst/>
          </a:prstGeom>
          <a:solidFill>
            <a:srgbClr val="1A2B8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51460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</a:rPr>
              <a:t>✔ Fair &amp; Balanced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51760" y="2514600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Workload distributed equitably among faculty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108960"/>
            <a:ext cx="8046720" cy="530352"/>
          </a:xfrm>
          <a:prstGeom prst="rect">
            <a:avLst/>
          </a:prstGeom>
          <a:solidFill>
            <a:srgbClr val="16206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10896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</a:rPr>
              <a:t>✔ Transparent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51760" y="3108960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Real-time visibility for both admin and staff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703320"/>
            <a:ext cx="8046720" cy="530352"/>
          </a:xfrm>
          <a:prstGeom prst="rect">
            <a:avLst/>
          </a:prstGeom>
          <a:solidFill>
            <a:srgbClr val="1A2B80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70332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</a:rPr>
              <a:t>✔ Efficient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51760" y="3703320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Saves time, reduces errors, improves coordination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297680"/>
            <a:ext cx="8046720" cy="530352"/>
          </a:xfrm>
          <a:prstGeom prst="rect">
            <a:avLst/>
          </a:prstGeom>
          <a:solidFill>
            <a:srgbClr val="162060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29768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</a:rPr>
              <a:t>✔ Reliable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651760" y="4297680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Scalable solution for colleges and universities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464515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C3F7"/>
                </a:solidFill>
              </a:rPr>
              <a:t>Thank You!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2" name="e"/>
          <p:cNvSpPr/>
          <p:nvPr/>
        </p:nvSpPr>
        <p:spPr>
          <a:xfrm>
            <a:off x="7100000" y="3300000"/>
            <a:ext cx="3000000" cy="3000000"/>
          </a:xfrm>
          <a:prstGeom prst="ellipse">
            <a:avLst/>
          </a:prstGeom>
          <a:solidFill>
            <a:srgbClr val="2540A0">
              <a:alpha val="18000"/>
            </a:srgbClr>
          </a:solidFill>
          <a:ln/>
        </p:spPr>
      </p:sp>
      <p:sp>
        <p:nvSpPr>
          <p:cNvPr id="13" name="t"/>
          <p:cNvSpPr/>
          <p:nvPr/>
        </p:nvSpPr>
        <p:spPr>
          <a:xfrm>
            <a:off x="411480" y="228600"/>
            <a:ext cx="8321040" cy="4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 xml:space="preserve">Purpose &amp; Problem Statement</a:t>
            </a:r>
          </a:p>
        </p:txBody>
      </p:sp>
      <p:sp>
        <p:nvSpPr>
          <p:cNvPr id="14" name="r"/>
          <p:cNvSpPr/>
          <p:nvPr/>
        </p:nvSpPr>
        <p:spPr>
          <a:xfrm>
            <a:off x="411480" y="712000"/>
            <a:ext cx="2057400" cy="3300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5" name="t"/>
          <p:cNvSpPr/>
          <p:nvPr/>
        </p:nvSpPr>
        <p:spPr>
          <a:xfrm>
            <a:off x="411480" y="792000"/>
            <a:ext cx="832104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300" dirty="0">
                <a:solidFill>
                  <a:srgbClr val="90A4D4"/>
                </a:solidFill>
              </a:rPr>
              <a:t xml:space="preserve">Why this system is needed</a:t>
            </a:r>
          </a:p>
        </p:txBody>
      </p:sp>
      <p:sp>
        <p:nvSpPr>
          <p:cNvPr id="16" name="rr"/>
          <p:cNvSpPr/>
          <p:nvPr/>
        </p:nvSpPr>
        <p:spPr>
          <a:xfrm>
            <a:off x="411480" y="1080000"/>
            <a:ext cx="4068000" cy="3640000"/>
          </a:xfrm>
          <a:prstGeom prst="roundRect">
            <a:avLst>
              <a:gd name="adj" fmla="val 6000"/>
            </a:avLst>
          </a:prstGeom>
          <a:solidFill>
            <a:srgbClr val="162060"/>
          </a:solidFill>
          <a:effectLst>
            <a:outerShdw blurRad="101600" dist="38100" dir="8100000" rotWithShape="0">
              <a:srgbClr val="000000">
                <a:alpha val="22000"/>
              </a:srgbClr>
            </a:outerShdw>
          </a:effectLst>
          <a:ln/>
        </p:spPr>
      </p:sp>
      <p:sp>
        <p:nvSpPr>
          <p:cNvPr id="17" name="r"/>
          <p:cNvSpPr/>
          <p:nvPr/>
        </p:nvSpPr>
        <p:spPr>
          <a:xfrm>
            <a:off x="411480" y="1080000"/>
            <a:ext cx="54864" cy="364000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8" name="e"/>
          <p:cNvSpPr/>
          <p:nvPr/>
        </p:nvSpPr>
        <p:spPr>
          <a:xfrm>
            <a:off x="566480" y="1230000"/>
            <a:ext cx="560000" cy="560000"/>
          </a:xfrm>
          <a:prstGeom prst="ellipse">
            <a:avLst/>
          </a:prstGeom>
          <a:solidFill>
            <a:srgbClr val="4FC3F7">
              <a:alpha val="22000"/>
            </a:srgbClr>
          </a:solidFill>
          <a:ln/>
        </p:spPr>
      </p:sp>
      <p:sp>
        <p:nvSpPr>
          <p:cNvPr id="19" name="t"/>
          <p:cNvSpPr/>
          <p:nvPr/>
        </p:nvSpPr>
        <p:spPr>
          <a:xfrm>
            <a:off x="596480" y="1250000"/>
            <a:ext cx="52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2400" dirty="0">
                <a:solidFill>
                  <a:srgbClr val="4FC3F7"/>
                </a:solidFill>
              </a:rPr>
              <a:t xml:space="preserve">🎯</a:t>
            </a:r>
          </a:p>
        </p:txBody>
      </p:sp>
      <p:sp>
        <p:nvSpPr>
          <p:cNvPr id="20" name="t"/>
          <p:cNvSpPr/>
          <p:nvPr/>
        </p:nvSpPr>
        <p:spPr>
          <a:xfrm>
            <a:off x="1231480" y="1280000"/>
            <a:ext cx="3088000" cy="4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en-US" sz="1600" b="1" dirty="0">
                <a:solidFill>
                  <a:srgbClr val="FFFFFF"/>
                </a:solidFill>
              </a:rPr>
              <a:t xml:space="preserve">Purpose</a:t>
            </a:r>
          </a:p>
        </p:txBody>
      </p:sp>
      <p:sp>
        <p:nvSpPr>
          <p:cNvPr id="21" name="t"/>
          <p:cNvSpPr/>
          <p:nvPr/>
        </p:nvSpPr>
        <p:spPr>
          <a:xfrm>
            <a:off x="611480" y="1980000"/>
            <a:ext cx="3668000" cy="2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lnSpc>
                <a:spcPct val="18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 xml:space="preserve">Design a smart, web-based system that automates</a:t>
            </a:r>
          </a:p>
          <a:p>
            <a:pPr indent="0" marL="0" algn="l">
              <a:lnSpc>
                <a:spcPct val="18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 xml:space="preserve">the allocation of examination invigilation duties.</a:t>
            </a:r>
          </a:p>
          <a:p>
            <a:pPr indent="0" marL="0" algn="l">
              <a:lnSpc>
                <a:spcPct val="18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 xml:space="preserve"/>
            </a:r>
          </a:p>
          <a:p>
            <a:pPr indent="0" marL="0" algn="l">
              <a:lnSpc>
                <a:spcPct val="185000"/>
              </a:lnSpc>
              <a:buNone/>
            </a:pPr>
            <a:r>
              <a:rPr lang="en-US" sz="1300" dirty="0">
                <a:solidFill>
                  <a:srgbClr val="90A4D4"/>
                </a:solidFill>
              </a:rPr>
              <a:t xml:space="preserve">It ensures fair, conflict-free and transparent</a:t>
            </a:r>
          </a:p>
          <a:p>
            <a:pPr indent="0" marL="0" algn="l">
              <a:lnSpc>
                <a:spcPct val="185000"/>
              </a:lnSpc>
              <a:buNone/>
            </a:pPr>
            <a:r>
              <a:rPr lang="en-US" sz="1300" dirty="0">
                <a:solidFill>
                  <a:srgbClr val="90A4D4"/>
                </a:solidFill>
              </a:rPr>
              <a:t xml:space="preserve">assignment of faculty across exam halls, while</a:t>
            </a:r>
          </a:p>
          <a:p>
            <a:pPr indent="0" marL="0" algn="l">
              <a:lnSpc>
                <a:spcPct val="185000"/>
              </a:lnSpc>
              <a:buNone/>
            </a:pPr>
            <a:r>
              <a:rPr lang="en-US" sz="1300" dirty="0">
                <a:solidFill>
                  <a:srgbClr val="90A4D4"/>
                </a:solidFill>
              </a:rPr>
              <a:t xml:space="preserve">greatly reducing manual administrative effort.</a:t>
            </a:r>
          </a:p>
        </p:txBody>
      </p:sp>
      <p:sp>
        <p:nvSpPr>
          <p:cNvPr id="22" name="rr"/>
          <p:cNvSpPr/>
          <p:nvPr/>
        </p:nvSpPr>
        <p:spPr>
          <a:xfrm>
            <a:off x="4664520" y="1080000"/>
            <a:ext cx="4068000" cy="3640000"/>
          </a:xfrm>
          <a:prstGeom prst="roundRect">
            <a:avLst>
              <a:gd name="adj" fmla="val 6000"/>
            </a:avLst>
          </a:prstGeom>
          <a:solidFill>
            <a:srgbClr val="162060"/>
          </a:solidFill>
          <a:effectLst>
            <a:outerShdw blurRad="101600" dist="38100" dir="8100000" rotWithShape="0">
              <a:srgbClr val="000000">
                <a:alpha val="22000"/>
              </a:srgbClr>
            </a:outerShdw>
          </a:effectLst>
          <a:ln/>
        </p:spPr>
      </p:sp>
      <p:sp>
        <p:nvSpPr>
          <p:cNvPr id="23" name="r"/>
          <p:cNvSpPr/>
          <p:nvPr/>
        </p:nvSpPr>
        <p:spPr>
          <a:xfrm>
            <a:off x="4664520" y="1080000"/>
            <a:ext cx="54864" cy="3640000"/>
          </a:xfrm>
          <a:prstGeom prst="rect">
            <a:avLst/>
          </a:prstGeom>
          <a:solidFill>
            <a:srgbClr val="FFD54F"/>
          </a:solidFill>
          <a:ln/>
        </p:spPr>
      </p:sp>
      <p:sp>
        <p:nvSpPr>
          <p:cNvPr id="24" name="e"/>
          <p:cNvSpPr/>
          <p:nvPr/>
        </p:nvSpPr>
        <p:spPr>
          <a:xfrm>
            <a:off x="4819520" y="1230000"/>
            <a:ext cx="560000" cy="560000"/>
          </a:xfrm>
          <a:prstGeom prst="ellipse">
            <a:avLst/>
          </a:prstGeom>
          <a:solidFill>
            <a:srgbClr val="FFD54F">
              <a:alpha val="22000"/>
            </a:srgbClr>
          </a:solidFill>
          <a:ln/>
        </p:spPr>
      </p:sp>
      <p:sp>
        <p:nvSpPr>
          <p:cNvPr id="25" name="t"/>
          <p:cNvSpPr/>
          <p:nvPr/>
        </p:nvSpPr>
        <p:spPr>
          <a:xfrm>
            <a:off x="4849520" y="1250000"/>
            <a:ext cx="52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2400" dirty="0">
                <a:solidFill>
                  <a:srgbClr val="FFD54F"/>
                </a:solidFill>
              </a:rPr>
              <a:t xml:space="preserve">⚠</a:t>
            </a:r>
          </a:p>
        </p:txBody>
      </p:sp>
      <p:sp>
        <p:nvSpPr>
          <p:cNvPr id="26" name="t"/>
          <p:cNvSpPr/>
          <p:nvPr/>
        </p:nvSpPr>
        <p:spPr>
          <a:xfrm>
            <a:off x="5484520" y="1280000"/>
            <a:ext cx="3088000" cy="4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en-US" sz="1600" b="1" dirty="0">
                <a:solidFill>
                  <a:srgbClr val="FFFFFF"/>
                </a:solidFill>
              </a:rPr>
              <a:t xml:space="preserve">Problem Statement</a:t>
            </a:r>
          </a:p>
        </p:txBody>
      </p:sp>
      <p:sp>
        <p:nvSpPr>
          <p:cNvPr id="27" name="t"/>
          <p:cNvSpPr/>
          <p:nvPr/>
        </p:nvSpPr>
        <p:spPr>
          <a:xfrm>
            <a:off x="4864520" y="1980000"/>
            <a:ext cx="3668000" cy="2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lnSpc>
                <a:spcPct val="18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 xml:space="preserve">Invigilation duties are assigned manually using</a:t>
            </a:r>
          </a:p>
          <a:p>
            <a:pPr indent="0" marL="0" algn="l">
              <a:lnSpc>
                <a:spcPct val="18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 xml:space="preserve">spreadsheets and paperwork.</a:t>
            </a:r>
          </a:p>
          <a:p>
            <a:pPr indent="0" marL="0" algn="l">
              <a:lnSpc>
                <a:spcPct val="18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 xml:space="preserve"/>
            </a:r>
          </a:p>
          <a:p>
            <a:pPr indent="0" marL="0" algn="l">
              <a:lnSpc>
                <a:spcPct val="185000"/>
              </a:lnSpc>
              <a:buNone/>
            </a:pPr>
            <a:r>
              <a:rPr lang="en-US" sz="1300" dirty="0">
                <a:solidFill>
                  <a:srgbClr val="90A4D4"/>
                </a:solidFill>
              </a:rPr>
              <a:t xml:space="preserve">This is slow, error-prone, and often leads to</a:t>
            </a:r>
          </a:p>
          <a:p>
            <a:pPr indent="0" marL="0" algn="l">
              <a:lnSpc>
                <a:spcPct val="185000"/>
              </a:lnSpc>
              <a:buNone/>
            </a:pPr>
            <a:r>
              <a:rPr lang="en-US" sz="1300" dirty="0">
                <a:solidFill>
                  <a:srgbClr val="90A4D4"/>
                </a:solidFill>
              </a:rPr>
              <a:t xml:space="preserve">uneven workloads, scheduling clashes and</a:t>
            </a:r>
          </a:p>
          <a:p>
            <a:pPr indent="0" marL="0" algn="l">
              <a:lnSpc>
                <a:spcPct val="185000"/>
              </a:lnSpc>
              <a:buNone/>
            </a:pPr>
            <a:r>
              <a:rPr lang="en-US" sz="1300" dirty="0">
                <a:solidFill>
                  <a:srgbClr val="90A4D4"/>
                </a:solidFill>
              </a:rPr>
              <a:t xml:space="preserve">last-minute confusion among faculty and staff.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29" name="e"/>
          <p:cNvSpPr/>
          <p:nvPr/>
        </p:nvSpPr>
        <p:spPr>
          <a:xfrm>
            <a:off x="7100000" y="3300000"/>
            <a:ext cx="3000000" cy="3000000"/>
          </a:xfrm>
          <a:prstGeom prst="ellipse">
            <a:avLst/>
          </a:prstGeom>
          <a:solidFill>
            <a:srgbClr val="2540A0">
              <a:alpha val="18000"/>
            </a:srgbClr>
          </a:solidFill>
          <a:ln/>
        </p:spPr>
      </p:sp>
      <p:sp>
        <p:nvSpPr>
          <p:cNvPr id="30" name="t"/>
          <p:cNvSpPr/>
          <p:nvPr/>
        </p:nvSpPr>
        <p:spPr>
          <a:xfrm>
            <a:off x="411480" y="228600"/>
            <a:ext cx="8321040" cy="4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 xml:space="preserve">Goals</a:t>
            </a:r>
          </a:p>
        </p:txBody>
      </p:sp>
      <p:sp>
        <p:nvSpPr>
          <p:cNvPr id="31" name="r"/>
          <p:cNvSpPr/>
          <p:nvPr/>
        </p:nvSpPr>
        <p:spPr>
          <a:xfrm>
            <a:off x="411480" y="712000"/>
            <a:ext cx="1280000" cy="3300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2" name="t"/>
          <p:cNvSpPr/>
          <p:nvPr/>
        </p:nvSpPr>
        <p:spPr>
          <a:xfrm>
            <a:off x="411480" y="792000"/>
            <a:ext cx="832104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300" dirty="0">
                <a:solidFill>
                  <a:srgbClr val="90A4D4"/>
                </a:solidFill>
              </a:rPr>
              <a:t xml:space="preserve">Target outcomes of the system</a:t>
            </a:r>
          </a:p>
        </p:txBody>
      </p:sp>
      <p:sp>
        <p:nvSpPr>
          <p:cNvPr id="33" name="rr"/>
          <p:cNvSpPr/>
          <p:nvPr/>
        </p:nvSpPr>
        <p:spPr>
          <a:xfrm>
            <a:off x="411480" y="1080000"/>
            <a:ext cx="4068000" cy="1140000"/>
          </a:xfrm>
          <a:prstGeom prst="roundRect">
            <a:avLst>
              <a:gd name="adj" fmla="val 6000"/>
            </a:avLst>
          </a:prstGeom>
          <a:solidFill>
            <a:srgbClr val="162060"/>
          </a:solidFill>
          <a:effectLst>
            <a:outerShdw blurRad="101600" dist="38100" dir="8100000" rotWithShape="0">
              <a:srgbClr val="000000">
                <a:alpha val="22000"/>
              </a:srgbClr>
            </a:outerShdw>
          </a:effectLst>
          <a:ln/>
        </p:spPr>
      </p:sp>
      <p:sp>
        <p:nvSpPr>
          <p:cNvPr id="34" name="r"/>
          <p:cNvSpPr/>
          <p:nvPr/>
        </p:nvSpPr>
        <p:spPr>
          <a:xfrm>
            <a:off x="411480" y="1080000"/>
            <a:ext cx="54864" cy="114000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5" name="t"/>
          <p:cNvSpPr/>
          <p:nvPr/>
        </p:nvSpPr>
        <p:spPr>
          <a:xfrm>
            <a:off x="581480" y="1200000"/>
            <a:ext cx="62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en-US" sz="2400" b="1" dirty="0">
                <a:solidFill>
                  <a:srgbClr val="4FC3F7"/>
                </a:solidFill>
              </a:rPr>
              <a:t xml:space="preserve">01</a:t>
            </a:r>
          </a:p>
        </p:txBody>
      </p:sp>
      <p:sp>
        <p:nvSpPr>
          <p:cNvPr id="36" name="t"/>
          <p:cNvSpPr/>
          <p:nvPr/>
        </p:nvSpPr>
        <p:spPr>
          <a:xfrm>
            <a:off x="1171480" y="1210000"/>
            <a:ext cx="3168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en-US" sz="1350" b="1" dirty="0">
                <a:solidFill>
                  <a:srgbClr val="FFFFFF"/>
                </a:solidFill>
              </a:rPr>
              <a:t xml:space="preserve">Automation</a:t>
            </a:r>
          </a:p>
        </p:txBody>
      </p:sp>
      <p:sp>
        <p:nvSpPr>
          <p:cNvPr id="37" name="t"/>
          <p:cNvSpPr/>
          <p:nvPr/>
        </p:nvSpPr>
        <p:spPr>
          <a:xfrm>
            <a:off x="596480" y="1660000"/>
            <a:ext cx="3708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90A4D4"/>
                </a:solidFill>
              </a:rPr>
              <a:t xml:space="preserve">Replace manual allocation with rule-based automatic duty assignment.</a:t>
            </a:r>
          </a:p>
        </p:txBody>
      </p:sp>
      <p:sp>
        <p:nvSpPr>
          <p:cNvPr id="38" name="rr"/>
          <p:cNvSpPr/>
          <p:nvPr/>
        </p:nvSpPr>
        <p:spPr>
          <a:xfrm>
            <a:off x="4664520" y="1080000"/>
            <a:ext cx="4068000" cy="1140000"/>
          </a:xfrm>
          <a:prstGeom prst="roundRect">
            <a:avLst>
              <a:gd name="adj" fmla="val 6000"/>
            </a:avLst>
          </a:prstGeom>
          <a:solidFill>
            <a:srgbClr val="162060"/>
          </a:solidFill>
          <a:effectLst>
            <a:outerShdw blurRad="101600" dist="38100" dir="8100000" rotWithShape="0">
              <a:srgbClr val="000000">
                <a:alpha val="22000"/>
              </a:srgbClr>
            </a:outerShdw>
          </a:effectLst>
          <a:ln/>
        </p:spPr>
      </p:sp>
      <p:sp>
        <p:nvSpPr>
          <p:cNvPr id="39" name="r"/>
          <p:cNvSpPr/>
          <p:nvPr/>
        </p:nvSpPr>
        <p:spPr>
          <a:xfrm>
            <a:off x="4664520" y="1080000"/>
            <a:ext cx="54864" cy="1140000"/>
          </a:xfrm>
          <a:prstGeom prst="rect">
            <a:avLst/>
          </a:prstGeom>
          <a:solidFill>
            <a:srgbClr val="64B5F6"/>
          </a:solidFill>
          <a:ln/>
        </p:spPr>
      </p:sp>
      <p:sp>
        <p:nvSpPr>
          <p:cNvPr id="40" name="t"/>
          <p:cNvSpPr/>
          <p:nvPr/>
        </p:nvSpPr>
        <p:spPr>
          <a:xfrm>
            <a:off x="4834520" y="1200000"/>
            <a:ext cx="62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en-US" sz="2400" b="1" dirty="0">
                <a:solidFill>
                  <a:srgbClr val="64B5F6"/>
                </a:solidFill>
              </a:rPr>
              <a:t xml:space="preserve">02</a:t>
            </a:r>
          </a:p>
        </p:txBody>
      </p:sp>
      <p:sp>
        <p:nvSpPr>
          <p:cNvPr id="41" name="t"/>
          <p:cNvSpPr/>
          <p:nvPr/>
        </p:nvSpPr>
        <p:spPr>
          <a:xfrm>
            <a:off x="5424520" y="1210000"/>
            <a:ext cx="3168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en-US" sz="1350" b="1" dirty="0">
                <a:solidFill>
                  <a:srgbClr val="FFFFFF"/>
                </a:solidFill>
              </a:rPr>
              <a:t xml:space="preserve">Fairness</a:t>
            </a:r>
          </a:p>
        </p:txBody>
      </p:sp>
      <p:sp>
        <p:nvSpPr>
          <p:cNvPr id="42" name="t"/>
          <p:cNvSpPr/>
          <p:nvPr/>
        </p:nvSpPr>
        <p:spPr>
          <a:xfrm>
            <a:off x="4849520" y="1660000"/>
            <a:ext cx="3708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90A4D4"/>
                </a:solidFill>
              </a:rPr>
              <a:t xml:space="preserve">Balance the invigilation load evenly across all eligible faculty.</a:t>
            </a:r>
          </a:p>
        </p:txBody>
      </p:sp>
      <p:sp>
        <p:nvSpPr>
          <p:cNvPr id="43" name="rr"/>
          <p:cNvSpPr/>
          <p:nvPr/>
        </p:nvSpPr>
        <p:spPr>
          <a:xfrm>
            <a:off x="411480" y="2310000"/>
            <a:ext cx="4068000" cy="1140000"/>
          </a:xfrm>
          <a:prstGeom prst="roundRect">
            <a:avLst>
              <a:gd name="adj" fmla="val 6000"/>
            </a:avLst>
          </a:prstGeom>
          <a:solidFill>
            <a:srgbClr val="162060"/>
          </a:solidFill>
          <a:effectLst>
            <a:outerShdw blurRad="101600" dist="38100" dir="8100000" rotWithShape="0">
              <a:srgbClr val="000000">
                <a:alpha val="22000"/>
              </a:srgbClr>
            </a:outerShdw>
          </a:effectLst>
          <a:ln/>
        </p:spPr>
      </p:sp>
      <p:sp>
        <p:nvSpPr>
          <p:cNvPr id="44" name="r"/>
          <p:cNvSpPr/>
          <p:nvPr/>
        </p:nvSpPr>
        <p:spPr>
          <a:xfrm>
            <a:off x="411480" y="2310000"/>
            <a:ext cx="54864" cy="1140000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45" name="t"/>
          <p:cNvSpPr/>
          <p:nvPr/>
        </p:nvSpPr>
        <p:spPr>
          <a:xfrm>
            <a:off x="581480" y="2430000"/>
            <a:ext cx="62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en-US" sz="2400" b="1" dirty="0">
                <a:solidFill>
                  <a:srgbClr val="00E5A0"/>
                </a:solidFill>
              </a:rPr>
              <a:t xml:space="preserve">03</a:t>
            </a:r>
          </a:p>
        </p:txBody>
      </p:sp>
      <p:sp>
        <p:nvSpPr>
          <p:cNvPr id="46" name="t"/>
          <p:cNvSpPr/>
          <p:nvPr/>
        </p:nvSpPr>
        <p:spPr>
          <a:xfrm>
            <a:off x="1171480" y="2440000"/>
            <a:ext cx="3168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en-US" sz="1350" b="1" dirty="0">
                <a:solidFill>
                  <a:srgbClr val="FFFFFF"/>
                </a:solidFill>
              </a:rPr>
              <a:t xml:space="preserve">Conflict-Free</a:t>
            </a:r>
          </a:p>
        </p:txBody>
      </p:sp>
      <p:sp>
        <p:nvSpPr>
          <p:cNvPr id="47" name="t"/>
          <p:cNvSpPr/>
          <p:nvPr/>
        </p:nvSpPr>
        <p:spPr>
          <a:xfrm>
            <a:off x="596480" y="2890000"/>
            <a:ext cx="3708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90A4D4"/>
                </a:solidFill>
              </a:rPr>
              <a:t xml:space="preserve">Prevent overlaps, double-bookings and schedule clashes.</a:t>
            </a:r>
          </a:p>
        </p:txBody>
      </p:sp>
      <p:sp>
        <p:nvSpPr>
          <p:cNvPr id="48" name="rr"/>
          <p:cNvSpPr/>
          <p:nvPr/>
        </p:nvSpPr>
        <p:spPr>
          <a:xfrm>
            <a:off x="4664520" y="2310000"/>
            <a:ext cx="4068000" cy="1140000"/>
          </a:xfrm>
          <a:prstGeom prst="roundRect">
            <a:avLst>
              <a:gd name="adj" fmla="val 6000"/>
            </a:avLst>
          </a:prstGeom>
          <a:solidFill>
            <a:srgbClr val="162060"/>
          </a:solidFill>
          <a:effectLst>
            <a:outerShdw blurRad="101600" dist="38100" dir="8100000" rotWithShape="0">
              <a:srgbClr val="000000">
                <a:alpha val="22000"/>
              </a:srgbClr>
            </a:outerShdw>
          </a:effectLst>
          <a:ln/>
        </p:spPr>
      </p:sp>
      <p:sp>
        <p:nvSpPr>
          <p:cNvPr id="49" name="r"/>
          <p:cNvSpPr/>
          <p:nvPr/>
        </p:nvSpPr>
        <p:spPr>
          <a:xfrm>
            <a:off x="4664520" y="2310000"/>
            <a:ext cx="54864" cy="1140000"/>
          </a:xfrm>
          <a:prstGeom prst="rect">
            <a:avLst/>
          </a:prstGeom>
          <a:solidFill>
            <a:srgbClr val="CE93D8"/>
          </a:solidFill>
          <a:ln/>
        </p:spPr>
      </p:sp>
      <p:sp>
        <p:nvSpPr>
          <p:cNvPr id="50" name="t"/>
          <p:cNvSpPr/>
          <p:nvPr/>
        </p:nvSpPr>
        <p:spPr>
          <a:xfrm>
            <a:off x="4834520" y="2430000"/>
            <a:ext cx="62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en-US" sz="2400" b="1" dirty="0">
                <a:solidFill>
                  <a:srgbClr val="CE93D8"/>
                </a:solidFill>
              </a:rPr>
              <a:t xml:space="preserve">04</a:t>
            </a:r>
          </a:p>
        </p:txBody>
      </p:sp>
      <p:sp>
        <p:nvSpPr>
          <p:cNvPr id="51" name="t"/>
          <p:cNvSpPr/>
          <p:nvPr/>
        </p:nvSpPr>
        <p:spPr>
          <a:xfrm>
            <a:off x="5424520" y="2440000"/>
            <a:ext cx="3168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en-US" sz="1350" b="1" dirty="0">
                <a:solidFill>
                  <a:srgbClr val="FFFFFF"/>
                </a:solidFill>
              </a:rPr>
              <a:t xml:space="preserve">Transparency</a:t>
            </a:r>
          </a:p>
        </p:txBody>
      </p:sp>
      <p:sp>
        <p:nvSpPr>
          <p:cNvPr id="52" name="t"/>
          <p:cNvSpPr/>
          <p:nvPr/>
        </p:nvSpPr>
        <p:spPr>
          <a:xfrm>
            <a:off x="4849520" y="2890000"/>
            <a:ext cx="3708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90A4D4"/>
                </a:solidFill>
              </a:rPr>
              <a:t xml:space="preserve">Give admins and faculty real-time visibility of all duties.</a:t>
            </a:r>
          </a:p>
        </p:txBody>
      </p:sp>
      <p:sp>
        <p:nvSpPr>
          <p:cNvPr id="53" name="rr"/>
          <p:cNvSpPr/>
          <p:nvPr/>
        </p:nvSpPr>
        <p:spPr>
          <a:xfrm>
            <a:off x="411480" y="3540000"/>
            <a:ext cx="4068000" cy="1140000"/>
          </a:xfrm>
          <a:prstGeom prst="roundRect">
            <a:avLst>
              <a:gd name="adj" fmla="val 6000"/>
            </a:avLst>
          </a:prstGeom>
          <a:solidFill>
            <a:srgbClr val="162060"/>
          </a:solidFill>
          <a:effectLst>
            <a:outerShdw blurRad="101600" dist="38100" dir="8100000" rotWithShape="0">
              <a:srgbClr val="000000">
                <a:alpha val="22000"/>
              </a:srgbClr>
            </a:outerShdw>
          </a:effectLst>
          <a:ln/>
        </p:spPr>
      </p:sp>
      <p:sp>
        <p:nvSpPr>
          <p:cNvPr id="54" name="r"/>
          <p:cNvSpPr/>
          <p:nvPr/>
        </p:nvSpPr>
        <p:spPr>
          <a:xfrm>
            <a:off x="411480" y="3540000"/>
            <a:ext cx="54864" cy="1140000"/>
          </a:xfrm>
          <a:prstGeom prst="rect">
            <a:avLst/>
          </a:prstGeom>
          <a:solidFill>
            <a:srgbClr val="FFD54F"/>
          </a:solidFill>
          <a:ln/>
        </p:spPr>
      </p:sp>
      <p:sp>
        <p:nvSpPr>
          <p:cNvPr id="55" name="t"/>
          <p:cNvSpPr/>
          <p:nvPr/>
        </p:nvSpPr>
        <p:spPr>
          <a:xfrm>
            <a:off x="581480" y="3660000"/>
            <a:ext cx="62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en-US" sz="2400" b="1" dirty="0">
                <a:solidFill>
                  <a:srgbClr val="FFD54F"/>
                </a:solidFill>
              </a:rPr>
              <a:t xml:space="preserve">05</a:t>
            </a:r>
          </a:p>
        </p:txBody>
      </p:sp>
      <p:sp>
        <p:nvSpPr>
          <p:cNvPr id="56" name="t"/>
          <p:cNvSpPr/>
          <p:nvPr/>
        </p:nvSpPr>
        <p:spPr>
          <a:xfrm>
            <a:off x="1171480" y="3670000"/>
            <a:ext cx="3168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en-US" sz="1350" b="1" dirty="0">
                <a:solidFill>
                  <a:srgbClr val="FFFFFF"/>
                </a:solidFill>
              </a:rPr>
              <a:t xml:space="preserve">Speed</a:t>
            </a:r>
          </a:p>
        </p:txBody>
      </p:sp>
      <p:sp>
        <p:nvSpPr>
          <p:cNvPr id="57" name="t"/>
          <p:cNvSpPr/>
          <p:nvPr/>
        </p:nvSpPr>
        <p:spPr>
          <a:xfrm>
            <a:off x="596480" y="4120000"/>
            <a:ext cx="3708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90A4D4"/>
                </a:solidFill>
              </a:rPr>
              <a:t xml:space="preserve">Cut allocation time from hours of work down to minutes.</a:t>
            </a:r>
          </a:p>
        </p:txBody>
      </p:sp>
      <p:sp>
        <p:nvSpPr>
          <p:cNvPr id="58" name="rr"/>
          <p:cNvSpPr/>
          <p:nvPr/>
        </p:nvSpPr>
        <p:spPr>
          <a:xfrm>
            <a:off x="4664520" y="3540000"/>
            <a:ext cx="4068000" cy="1140000"/>
          </a:xfrm>
          <a:prstGeom prst="roundRect">
            <a:avLst>
              <a:gd name="adj" fmla="val 6000"/>
            </a:avLst>
          </a:prstGeom>
          <a:solidFill>
            <a:srgbClr val="162060"/>
          </a:solidFill>
          <a:effectLst>
            <a:outerShdw blurRad="101600" dist="38100" dir="8100000" rotWithShape="0">
              <a:srgbClr val="000000">
                <a:alpha val="22000"/>
              </a:srgbClr>
            </a:outerShdw>
          </a:effectLst>
          <a:ln/>
        </p:spPr>
      </p:sp>
      <p:sp>
        <p:nvSpPr>
          <p:cNvPr id="59" name="r"/>
          <p:cNvSpPr/>
          <p:nvPr/>
        </p:nvSpPr>
        <p:spPr>
          <a:xfrm>
            <a:off x="4664520" y="3540000"/>
            <a:ext cx="54864" cy="1140000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60" name="t"/>
          <p:cNvSpPr/>
          <p:nvPr/>
        </p:nvSpPr>
        <p:spPr>
          <a:xfrm>
            <a:off x="4834520" y="3660000"/>
            <a:ext cx="62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en-US" sz="2400" b="1" dirty="0">
                <a:solidFill>
                  <a:srgbClr val="00E5A0"/>
                </a:solidFill>
              </a:rPr>
              <a:t xml:space="preserve">06</a:t>
            </a:r>
          </a:p>
        </p:txBody>
      </p:sp>
      <p:sp>
        <p:nvSpPr>
          <p:cNvPr id="61" name="t"/>
          <p:cNvSpPr/>
          <p:nvPr/>
        </p:nvSpPr>
        <p:spPr>
          <a:xfrm>
            <a:off x="5424520" y="3670000"/>
            <a:ext cx="3168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en-US" sz="1350" b="1" dirty="0">
                <a:solidFill>
                  <a:srgbClr val="FFFFFF"/>
                </a:solidFill>
              </a:rPr>
              <a:t xml:space="preserve">Centralization</a:t>
            </a:r>
          </a:p>
        </p:txBody>
      </p:sp>
      <p:sp>
        <p:nvSpPr>
          <p:cNvPr id="62" name="t"/>
          <p:cNvSpPr/>
          <p:nvPr/>
        </p:nvSpPr>
        <p:spPr>
          <a:xfrm>
            <a:off x="4849520" y="4120000"/>
            <a:ext cx="3708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90A4D4"/>
                </a:solidFill>
              </a:rPr>
              <a:t xml:space="preserve">Keep schedules, rooms and duty records in one single place.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64" name="e"/>
          <p:cNvSpPr/>
          <p:nvPr/>
        </p:nvSpPr>
        <p:spPr>
          <a:xfrm>
            <a:off x="7100000" y="3300000"/>
            <a:ext cx="3000000" cy="3000000"/>
          </a:xfrm>
          <a:prstGeom prst="ellipse">
            <a:avLst/>
          </a:prstGeom>
          <a:solidFill>
            <a:srgbClr val="2540A0">
              <a:alpha val="18000"/>
            </a:srgbClr>
          </a:solidFill>
          <a:ln/>
        </p:spPr>
      </p:sp>
      <p:sp>
        <p:nvSpPr>
          <p:cNvPr id="65" name="t"/>
          <p:cNvSpPr/>
          <p:nvPr/>
        </p:nvSpPr>
        <p:spPr>
          <a:xfrm>
            <a:off x="411480" y="228600"/>
            <a:ext cx="8321040" cy="4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 xml:space="preserve">Project Scope</a:t>
            </a:r>
          </a:p>
        </p:txBody>
      </p:sp>
      <p:sp>
        <p:nvSpPr>
          <p:cNvPr id="66" name="r"/>
          <p:cNvSpPr/>
          <p:nvPr/>
        </p:nvSpPr>
        <p:spPr>
          <a:xfrm>
            <a:off x="411480" y="712000"/>
            <a:ext cx="1463040" cy="3300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67" name="t"/>
          <p:cNvSpPr/>
          <p:nvPr/>
        </p:nvSpPr>
        <p:spPr>
          <a:xfrm>
            <a:off x="411480" y="792000"/>
            <a:ext cx="832104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300" dirty="0">
                <a:solidFill>
                  <a:srgbClr val="90A4D4"/>
                </a:solidFill>
              </a:rPr>
              <a:t xml:space="preserve">What the system covers — and what it does not</a:t>
            </a:r>
          </a:p>
        </p:txBody>
      </p:sp>
      <p:sp>
        <p:nvSpPr>
          <p:cNvPr id="68" name="rr"/>
          <p:cNvSpPr/>
          <p:nvPr/>
        </p:nvSpPr>
        <p:spPr>
          <a:xfrm>
            <a:off x="411480" y="1080000"/>
            <a:ext cx="4068000" cy="3640000"/>
          </a:xfrm>
          <a:prstGeom prst="roundRect">
            <a:avLst>
              <a:gd name="adj" fmla="val 6000"/>
            </a:avLst>
          </a:prstGeom>
          <a:solidFill>
            <a:srgbClr val="162060"/>
          </a:solidFill>
          <a:effectLst>
            <a:outerShdw blurRad="101600" dist="38100" dir="8100000" rotWithShape="0">
              <a:srgbClr val="000000">
                <a:alpha val="22000"/>
              </a:srgbClr>
            </a:outerShdw>
          </a:effectLst>
          <a:ln/>
        </p:spPr>
      </p:sp>
      <p:sp>
        <p:nvSpPr>
          <p:cNvPr id="69" name="r"/>
          <p:cNvSpPr/>
          <p:nvPr/>
        </p:nvSpPr>
        <p:spPr>
          <a:xfrm>
            <a:off x="411480" y="1080000"/>
            <a:ext cx="54864" cy="3640000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70" name="e"/>
          <p:cNvSpPr/>
          <p:nvPr/>
        </p:nvSpPr>
        <p:spPr>
          <a:xfrm>
            <a:off x="566480" y="1230000"/>
            <a:ext cx="560000" cy="560000"/>
          </a:xfrm>
          <a:prstGeom prst="ellipse">
            <a:avLst/>
          </a:prstGeom>
          <a:solidFill>
            <a:srgbClr val="00E5A0">
              <a:alpha val="22000"/>
            </a:srgbClr>
          </a:solidFill>
          <a:ln/>
        </p:spPr>
      </p:sp>
      <p:sp>
        <p:nvSpPr>
          <p:cNvPr id="71" name="t"/>
          <p:cNvSpPr/>
          <p:nvPr/>
        </p:nvSpPr>
        <p:spPr>
          <a:xfrm>
            <a:off x="596480" y="1250000"/>
            <a:ext cx="52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2400" dirty="0">
                <a:solidFill>
                  <a:srgbClr val="00E5A0"/>
                </a:solidFill>
              </a:rPr>
              <a:t xml:space="preserve">✔</a:t>
            </a:r>
          </a:p>
        </p:txBody>
      </p:sp>
      <p:sp>
        <p:nvSpPr>
          <p:cNvPr id="72" name="t"/>
          <p:cNvSpPr/>
          <p:nvPr/>
        </p:nvSpPr>
        <p:spPr>
          <a:xfrm>
            <a:off x="1231480" y="1280000"/>
            <a:ext cx="3088000" cy="4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en-US" sz="1600" b="1" dirty="0">
                <a:solidFill>
                  <a:srgbClr val="FFFFFF"/>
                </a:solidFill>
              </a:rPr>
              <a:t xml:space="preserve">In Scope</a:t>
            </a:r>
          </a:p>
        </p:txBody>
      </p:sp>
      <p:sp>
        <p:nvSpPr>
          <p:cNvPr id="73" name="t"/>
          <p:cNvSpPr/>
          <p:nvPr/>
        </p:nvSpPr>
        <p:spPr>
          <a:xfrm>
            <a:off x="611480" y="1980000"/>
            <a:ext cx="3668000" cy="2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lnSpc>
                <a:spcPct val="185000"/>
              </a:lnSpc>
              <a:buNone/>
            </a:pPr>
            <a:r>
              <a:rPr lang="en-US" sz="1300" dirty="0">
                <a:solidFill>
                  <a:srgbClr val="90A4D4"/>
                </a:solidFill>
              </a:rPr>
              <a:t xml:space="preserve">Faculty profile &amp; availability management</a:t>
            </a:r>
          </a:p>
          <a:p>
            <a:pPr indent="0" marL="0" algn="l">
              <a:lnSpc>
                <a:spcPct val="185000"/>
              </a:lnSpc>
              <a:buNone/>
            </a:pPr>
            <a:r>
              <a:rPr lang="en-US" sz="1300" dirty="0">
                <a:solidFill>
                  <a:srgbClr val="90A4D4"/>
                </a:solidFill>
              </a:rPr>
              <a:t xml:space="preserve">Automated invigilation duty allocation</a:t>
            </a:r>
          </a:p>
          <a:p>
            <a:pPr indent="0" marL="0" algn="l">
              <a:lnSpc>
                <a:spcPct val="185000"/>
              </a:lnSpc>
              <a:buNone/>
            </a:pPr>
            <a:r>
              <a:rPr lang="en-US" sz="1300" dirty="0">
                <a:solidFill>
                  <a:srgbClr val="90A4D4"/>
                </a:solidFill>
              </a:rPr>
              <a:t xml:space="preserve">Exam scheduling &amp; room / hall allocation</a:t>
            </a:r>
          </a:p>
          <a:p>
            <a:pPr indent="0" marL="0" algn="l">
              <a:lnSpc>
                <a:spcPct val="185000"/>
              </a:lnSpc>
              <a:buNone/>
            </a:pPr>
            <a:r>
              <a:rPr lang="en-US" sz="1300" dirty="0">
                <a:solidFill>
                  <a:srgbClr val="90A4D4"/>
                </a:solidFill>
              </a:rPr>
              <a:t xml:space="preserve">Conflict detection &amp; resolution</a:t>
            </a:r>
          </a:p>
          <a:p>
            <a:pPr indent="0" marL="0" algn="l">
              <a:lnSpc>
                <a:spcPct val="185000"/>
              </a:lnSpc>
              <a:buNone/>
            </a:pPr>
            <a:r>
              <a:rPr lang="en-US" sz="1300" dirty="0">
                <a:solidFill>
                  <a:srgbClr val="90A4D4"/>
                </a:solidFill>
              </a:rPr>
              <a:t xml:space="preserve">Faculty dashboard &amp; notifications</a:t>
            </a:r>
          </a:p>
          <a:p>
            <a:pPr indent="0" marL="0" algn="l">
              <a:lnSpc>
                <a:spcPct val="185000"/>
              </a:lnSpc>
              <a:buNone/>
            </a:pPr>
            <a:r>
              <a:rPr lang="en-US" sz="1300" dirty="0">
                <a:solidFill>
                  <a:srgbClr val="90A4D4"/>
                </a:solidFill>
              </a:rPr>
              <a:t xml:space="preserve">Duty charts &amp; report generation</a:t>
            </a:r>
          </a:p>
        </p:txBody>
      </p:sp>
      <p:sp>
        <p:nvSpPr>
          <p:cNvPr id="74" name="rr"/>
          <p:cNvSpPr/>
          <p:nvPr/>
        </p:nvSpPr>
        <p:spPr>
          <a:xfrm>
            <a:off x="4664520" y="1080000"/>
            <a:ext cx="4068000" cy="3640000"/>
          </a:xfrm>
          <a:prstGeom prst="roundRect">
            <a:avLst>
              <a:gd name="adj" fmla="val 6000"/>
            </a:avLst>
          </a:prstGeom>
          <a:solidFill>
            <a:srgbClr val="162060"/>
          </a:solidFill>
          <a:effectLst>
            <a:outerShdw blurRad="101600" dist="38100" dir="8100000" rotWithShape="0">
              <a:srgbClr val="000000">
                <a:alpha val="22000"/>
              </a:srgbClr>
            </a:outerShdw>
          </a:effectLst>
          <a:ln/>
        </p:spPr>
      </p:sp>
      <p:sp>
        <p:nvSpPr>
          <p:cNvPr id="75" name="r"/>
          <p:cNvSpPr/>
          <p:nvPr/>
        </p:nvSpPr>
        <p:spPr>
          <a:xfrm>
            <a:off x="4664520" y="1080000"/>
            <a:ext cx="54864" cy="3640000"/>
          </a:xfrm>
          <a:prstGeom prst="rect">
            <a:avLst/>
          </a:prstGeom>
          <a:solidFill>
            <a:srgbClr val="FF8A65"/>
          </a:solidFill>
          <a:ln/>
        </p:spPr>
      </p:sp>
      <p:sp>
        <p:nvSpPr>
          <p:cNvPr id="76" name="e"/>
          <p:cNvSpPr/>
          <p:nvPr/>
        </p:nvSpPr>
        <p:spPr>
          <a:xfrm>
            <a:off x="4819520" y="1230000"/>
            <a:ext cx="560000" cy="560000"/>
          </a:xfrm>
          <a:prstGeom prst="ellipse">
            <a:avLst/>
          </a:prstGeom>
          <a:solidFill>
            <a:srgbClr val="FF8A65">
              <a:alpha val="22000"/>
            </a:srgbClr>
          </a:solidFill>
          <a:ln/>
        </p:spPr>
      </p:sp>
      <p:sp>
        <p:nvSpPr>
          <p:cNvPr id="77" name="t"/>
          <p:cNvSpPr/>
          <p:nvPr/>
        </p:nvSpPr>
        <p:spPr>
          <a:xfrm>
            <a:off x="4849520" y="1250000"/>
            <a:ext cx="52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2400" dirty="0">
                <a:solidFill>
                  <a:srgbClr val="FF8A65"/>
                </a:solidFill>
              </a:rPr>
              <a:t xml:space="preserve">✖</a:t>
            </a:r>
          </a:p>
        </p:txBody>
      </p:sp>
      <p:sp>
        <p:nvSpPr>
          <p:cNvPr id="78" name="t"/>
          <p:cNvSpPr/>
          <p:nvPr/>
        </p:nvSpPr>
        <p:spPr>
          <a:xfrm>
            <a:off x="5484520" y="1280000"/>
            <a:ext cx="3088000" cy="4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en-US" sz="1600" b="1" dirty="0">
                <a:solidFill>
                  <a:srgbClr val="FFFFFF"/>
                </a:solidFill>
              </a:rPr>
              <a:t xml:space="preserve">Out of Scope</a:t>
            </a:r>
          </a:p>
        </p:txBody>
      </p:sp>
      <p:sp>
        <p:nvSpPr>
          <p:cNvPr id="79" name="t"/>
          <p:cNvSpPr/>
          <p:nvPr/>
        </p:nvSpPr>
        <p:spPr>
          <a:xfrm>
            <a:off x="4864520" y="1980000"/>
            <a:ext cx="3668000" cy="2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lnSpc>
                <a:spcPct val="185000"/>
              </a:lnSpc>
              <a:buNone/>
            </a:pPr>
            <a:r>
              <a:rPr lang="en-US" sz="1300" dirty="0">
                <a:solidFill>
                  <a:srgbClr val="90A4D4"/>
                </a:solidFill>
              </a:rPr>
              <a:t xml:space="preserve">Student exam registration &amp; enrollment</a:t>
            </a:r>
          </a:p>
          <a:p>
            <a:pPr indent="0" marL="0" algn="l">
              <a:lnSpc>
                <a:spcPct val="185000"/>
              </a:lnSpc>
              <a:buNone/>
            </a:pPr>
            <a:r>
              <a:rPr lang="en-US" sz="1300" dirty="0">
                <a:solidFill>
                  <a:srgbClr val="90A4D4"/>
                </a:solidFill>
              </a:rPr>
              <a:t xml:space="preserve">Question paper setting or evaluation</a:t>
            </a:r>
          </a:p>
          <a:p>
            <a:pPr indent="0" marL="0" algn="l">
              <a:lnSpc>
                <a:spcPct val="185000"/>
              </a:lnSpc>
              <a:buNone/>
            </a:pPr>
            <a:r>
              <a:rPr lang="en-US" sz="1300" dirty="0">
                <a:solidFill>
                  <a:srgbClr val="90A4D4"/>
                </a:solidFill>
              </a:rPr>
              <a:t xml:space="preserve">Salary, payroll or HR management</a:t>
            </a:r>
          </a:p>
          <a:p>
            <a:pPr indent="0" marL="0" algn="l">
              <a:lnSpc>
                <a:spcPct val="185000"/>
              </a:lnSpc>
              <a:buNone/>
            </a:pPr>
            <a:r>
              <a:rPr lang="en-US" sz="1300" dirty="0">
                <a:solidFill>
                  <a:srgbClr val="90A4D4"/>
                </a:solidFill>
              </a:rPr>
              <a:t xml:space="preserve">Biometric / CCTV exam monitoring</a:t>
            </a:r>
          </a:p>
          <a:p>
            <a:pPr indent="0" marL="0" algn="l">
              <a:lnSpc>
                <a:spcPct val="185000"/>
              </a:lnSpc>
              <a:buNone/>
            </a:pPr>
            <a:r>
              <a:rPr lang="en-US" sz="1300" dirty="0">
                <a:solidFill>
                  <a:srgbClr val="90A4D4"/>
                </a:solidFill>
              </a:rPr>
              <a:t xml:space="preserve">Native mobile app (web-based only)</a:t>
            </a:r>
          </a:p>
          <a:p>
            <a:pPr indent="0" marL="0" algn="l">
              <a:lnSpc>
                <a:spcPct val="185000"/>
              </a:lnSpc>
              <a:buNone/>
            </a:pPr>
            <a:r>
              <a:rPr lang="en-US" sz="1300" dirty="0">
                <a:solidFill>
                  <a:srgbClr val="90A4D4"/>
                </a:solidFill>
              </a:rPr>
              <a:t xml:space="preserve">Integration with external university ERP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81" name="e"/>
          <p:cNvSpPr/>
          <p:nvPr/>
        </p:nvSpPr>
        <p:spPr>
          <a:xfrm>
            <a:off x="7100000" y="3300000"/>
            <a:ext cx="3000000" cy="3000000"/>
          </a:xfrm>
          <a:prstGeom prst="ellipse">
            <a:avLst/>
          </a:prstGeom>
          <a:solidFill>
            <a:srgbClr val="2540A0">
              <a:alpha val="18000"/>
            </a:srgbClr>
          </a:solidFill>
          <a:ln/>
        </p:spPr>
      </p:sp>
      <p:sp>
        <p:nvSpPr>
          <p:cNvPr id="82" name="t"/>
          <p:cNvSpPr/>
          <p:nvPr/>
        </p:nvSpPr>
        <p:spPr>
          <a:xfrm>
            <a:off x="411480" y="228600"/>
            <a:ext cx="8321040" cy="4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 xml:space="preserve">System Users</a:t>
            </a:r>
          </a:p>
        </p:txBody>
      </p:sp>
      <p:sp>
        <p:nvSpPr>
          <p:cNvPr id="83" name="r"/>
          <p:cNvSpPr/>
          <p:nvPr/>
        </p:nvSpPr>
        <p:spPr>
          <a:xfrm>
            <a:off x="411480" y="712000"/>
            <a:ext cx="1280000" cy="3300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84" name="t"/>
          <p:cNvSpPr/>
          <p:nvPr/>
        </p:nvSpPr>
        <p:spPr>
          <a:xfrm>
            <a:off x="411480" y="792000"/>
            <a:ext cx="832104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300" dirty="0">
                <a:solidFill>
                  <a:srgbClr val="90A4D4"/>
                </a:solidFill>
              </a:rPr>
              <a:t xml:space="preserve">Who interacts with the system</a:t>
            </a:r>
          </a:p>
        </p:txBody>
      </p:sp>
      <p:sp>
        <p:nvSpPr>
          <p:cNvPr id="85" name="rr"/>
          <p:cNvSpPr/>
          <p:nvPr/>
        </p:nvSpPr>
        <p:spPr>
          <a:xfrm>
            <a:off x="411480" y="1080000"/>
            <a:ext cx="2590800" cy="3000000"/>
          </a:xfrm>
          <a:prstGeom prst="roundRect">
            <a:avLst>
              <a:gd name="adj" fmla="val 6000"/>
            </a:avLst>
          </a:prstGeom>
          <a:solidFill>
            <a:srgbClr val="162060"/>
          </a:solidFill>
          <a:effectLst>
            <a:outerShdw blurRad="101600" dist="38100" dir="8100000" rotWithShape="0">
              <a:srgbClr val="000000">
                <a:alpha val="22000"/>
              </a:srgbClr>
            </a:outerShdw>
          </a:effectLst>
          <a:ln/>
        </p:spPr>
      </p:sp>
      <p:sp>
        <p:nvSpPr>
          <p:cNvPr id="86" name="e"/>
          <p:cNvSpPr/>
          <p:nvPr/>
        </p:nvSpPr>
        <p:spPr>
          <a:xfrm>
            <a:off x="1326880" y="1290000"/>
            <a:ext cx="760000" cy="760000"/>
          </a:xfrm>
          <a:prstGeom prst="ellipse">
            <a:avLst/>
          </a:prstGeom>
          <a:solidFill>
            <a:srgbClr val="64B5F6">
              <a:alpha val="28000"/>
            </a:srgbClr>
          </a:solidFill>
          <a:ln/>
        </p:spPr>
      </p:sp>
      <p:sp>
        <p:nvSpPr>
          <p:cNvPr id="87" name="e"/>
          <p:cNvSpPr/>
          <p:nvPr/>
        </p:nvSpPr>
        <p:spPr>
          <a:xfrm>
            <a:off x="1406880" y="1370000"/>
            <a:ext cx="600000" cy="600000"/>
          </a:xfrm>
          <a:prstGeom prst="ellipse">
            <a:avLst/>
          </a:prstGeom>
          <a:solidFill>
            <a:srgbClr val="64B5F6"/>
          </a:solidFill>
          <a:ln/>
        </p:spPr>
      </p:sp>
      <p:sp>
        <p:nvSpPr>
          <p:cNvPr id="88" name="t"/>
          <p:cNvSpPr/>
          <p:nvPr/>
        </p:nvSpPr>
        <p:spPr>
          <a:xfrm>
            <a:off x="1406880" y="1370000"/>
            <a:ext cx="6000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2800" b="1" dirty="0">
                <a:solidFill>
                  <a:srgbClr val="0D1B5E"/>
                </a:solidFill>
              </a:rPr>
              <a:t xml:space="preserve">A</a:t>
            </a:r>
          </a:p>
        </p:txBody>
      </p:sp>
      <p:sp>
        <p:nvSpPr>
          <p:cNvPr id="89" name="t"/>
          <p:cNvSpPr/>
          <p:nvPr/>
        </p:nvSpPr>
        <p:spPr>
          <a:xfrm>
            <a:off x="531480" y="2210000"/>
            <a:ext cx="23508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450" b="1" dirty="0">
                <a:solidFill>
                  <a:srgbClr val="FFFFFF"/>
                </a:solidFill>
              </a:rPr>
              <a:t xml:space="preserve">Administrator</a:t>
            </a:r>
          </a:p>
        </p:txBody>
      </p:sp>
      <p:sp>
        <p:nvSpPr>
          <p:cNvPr id="90" name="t"/>
          <p:cNvSpPr/>
          <p:nvPr/>
        </p:nvSpPr>
        <p:spPr>
          <a:xfrm>
            <a:off x="531480" y="2530000"/>
            <a:ext cx="23508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100" b="1" dirty="0">
                <a:solidFill>
                  <a:srgbClr val="64B5F6"/>
                </a:solidFill>
              </a:rPr>
              <a:t xml:space="preserve">Admin</a:t>
            </a:r>
          </a:p>
        </p:txBody>
      </p:sp>
      <p:sp>
        <p:nvSpPr>
          <p:cNvPr id="91" name="t"/>
          <p:cNvSpPr/>
          <p:nvPr/>
        </p:nvSpPr>
        <p:spPr>
          <a:xfrm>
            <a:off x="611480" y="2920000"/>
            <a:ext cx="219080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90A4D4"/>
                </a:solidFill>
              </a:rPr>
              <a:t xml:space="preserve">Manages faculty data, configures fairness rules, runs allocation, approves duties and generates reports.</a:t>
            </a:r>
          </a:p>
        </p:txBody>
      </p:sp>
      <p:sp>
        <p:nvSpPr>
          <p:cNvPr id="92" name="rr"/>
          <p:cNvSpPr/>
          <p:nvPr/>
        </p:nvSpPr>
        <p:spPr>
          <a:xfrm>
            <a:off x="3276600" y="1080000"/>
            <a:ext cx="2590800" cy="3000000"/>
          </a:xfrm>
          <a:prstGeom prst="roundRect">
            <a:avLst>
              <a:gd name="adj" fmla="val 6000"/>
            </a:avLst>
          </a:prstGeom>
          <a:solidFill>
            <a:srgbClr val="162060"/>
          </a:solidFill>
          <a:effectLst>
            <a:outerShdw blurRad="101600" dist="38100" dir="8100000" rotWithShape="0">
              <a:srgbClr val="000000">
                <a:alpha val="22000"/>
              </a:srgbClr>
            </a:outerShdw>
          </a:effectLst>
          <a:ln/>
        </p:spPr>
      </p:sp>
      <p:sp>
        <p:nvSpPr>
          <p:cNvPr id="93" name="e"/>
          <p:cNvSpPr/>
          <p:nvPr/>
        </p:nvSpPr>
        <p:spPr>
          <a:xfrm>
            <a:off x="4192000" y="1290000"/>
            <a:ext cx="760000" cy="760000"/>
          </a:xfrm>
          <a:prstGeom prst="ellipse">
            <a:avLst/>
          </a:prstGeom>
          <a:solidFill>
            <a:srgbClr val="00E5A0">
              <a:alpha val="28000"/>
            </a:srgbClr>
          </a:solidFill>
          <a:ln/>
        </p:spPr>
      </p:sp>
      <p:sp>
        <p:nvSpPr>
          <p:cNvPr id="94" name="e"/>
          <p:cNvSpPr/>
          <p:nvPr/>
        </p:nvSpPr>
        <p:spPr>
          <a:xfrm>
            <a:off x="4272000" y="1370000"/>
            <a:ext cx="600000" cy="600000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95" name="t"/>
          <p:cNvSpPr/>
          <p:nvPr/>
        </p:nvSpPr>
        <p:spPr>
          <a:xfrm>
            <a:off x="4272000" y="1370000"/>
            <a:ext cx="6000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2800" b="1" dirty="0">
                <a:solidFill>
                  <a:srgbClr val="0D1B5E"/>
                </a:solidFill>
              </a:rPr>
              <a:t xml:space="preserve">F</a:t>
            </a:r>
          </a:p>
        </p:txBody>
      </p:sp>
      <p:sp>
        <p:nvSpPr>
          <p:cNvPr id="96" name="t"/>
          <p:cNvSpPr/>
          <p:nvPr/>
        </p:nvSpPr>
        <p:spPr>
          <a:xfrm>
            <a:off x="3396600" y="2210000"/>
            <a:ext cx="23508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450" b="1" dirty="0">
                <a:solidFill>
                  <a:srgbClr val="FFFFFF"/>
                </a:solidFill>
              </a:rPr>
              <a:t xml:space="preserve">Faculty / Invigilator</a:t>
            </a:r>
          </a:p>
        </p:txBody>
      </p:sp>
      <p:sp>
        <p:nvSpPr>
          <p:cNvPr id="97" name="t"/>
          <p:cNvSpPr/>
          <p:nvPr/>
        </p:nvSpPr>
        <p:spPr>
          <a:xfrm>
            <a:off x="3396600" y="2530000"/>
            <a:ext cx="23508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100" b="1" dirty="0">
                <a:solidFill>
                  <a:srgbClr val="00E5A0"/>
                </a:solidFill>
              </a:rPr>
              <a:t xml:space="preserve">Faculty</a:t>
            </a:r>
          </a:p>
        </p:txBody>
      </p:sp>
      <p:sp>
        <p:nvSpPr>
          <p:cNvPr id="98" name="t"/>
          <p:cNvSpPr/>
          <p:nvPr/>
        </p:nvSpPr>
        <p:spPr>
          <a:xfrm>
            <a:off x="3476600" y="2920000"/>
            <a:ext cx="219080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90A4D4"/>
                </a:solidFill>
              </a:rPr>
              <a:t xml:space="preserve">Views assigned duties, dates, timings and hall details, gets notifications and checks duty history.</a:t>
            </a:r>
          </a:p>
        </p:txBody>
      </p:sp>
      <p:sp>
        <p:nvSpPr>
          <p:cNvPr id="99" name="rr"/>
          <p:cNvSpPr/>
          <p:nvPr/>
        </p:nvSpPr>
        <p:spPr>
          <a:xfrm>
            <a:off x="6141720" y="1080000"/>
            <a:ext cx="2590800" cy="3000000"/>
          </a:xfrm>
          <a:prstGeom prst="roundRect">
            <a:avLst>
              <a:gd name="adj" fmla="val 6000"/>
            </a:avLst>
          </a:prstGeom>
          <a:solidFill>
            <a:srgbClr val="162060"/>
          </a:solidFill>
          <a:effectLst>
            <a:outerShdw blurRad="101600" dist="38100" dir="8100000" rotWithShape="0">
              <a:srgbClr val="000000">
                <a:alpha val="22000"/>
              </a:srgbClr>
            </a:outerShdw>
          </a:effectLst>
          <a:ln/>
        </p:spPr>
      </p:sp>
      <p:sp>
        <p:nvSpPr>
          <p:cNvPr id="100" name="e"/>
          <p:cNvSpPr/>
          <p:nvPr/>
        </p:nvSpPr>
        <p:spPr>
          <a:xfrm>
            <a:off x="7057120" y="1290000"/>
            <a:ext cx="760000" cy="760000"/>
          </a:xfrm>
          <a:prstGeom prst="ellipse">
            <a:avLst/>
          </a:prstGeom>
          <a:solidFill>
            <a:srgbClr val="CE93D8">
              <a:alpha val="28000"/>
            </a:srgbClr>
          </a:solidFill>
          <a:ln/>
        </p:spPr>
      </p:sp>
      <p:sp>
        <p:nvSpPr>
          <p:cNvPr id="101" name="e"/>
          <p:cNvSpPr/>
          <p:nvPr/>
        </p:nvSpPr>
        <p:spPr>
          <a:xfrm>
            <a:off x="7137120" y="1370000"/>
            <a:ext cx="600000" cy="600000"/>
          </a:xfrm>
          <a:prstGeom prst="ellipse">
            <a:avLst/>
          </a:prstGeom>
          <a:solidFill>
            <a:srgbClr val="CE93D8"/>
          </a:solidFill>
          <a:ln/>
        </p:spPr>
      </p:sp>
      <p:sp>
        <p:nvSpPr>
          <p:cNvPr id="102" name="t"/>
          <p:cNvSpPr/>
          <p:nvPr/>
        </p:nvSpPr>
        <p:spPr>
          <a:xfrm>
            <a:off x="7137120" y="1370000"/>
            <a:ext cx="6000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2800" b="1" dirty="0">
                <a:solidFill>
                  <a:srgbClr val="0D1B5E"/>
                </a:solidFill>
              </a:rPr>
              <a:t xml:space="preserve">C</a:t>
            </a:r>
          </a:p>
        </p:txBody>
      </p:sp>
      <p:sp>
        <p:nvSpPr>
          <p:cNvPr id="103" name="t"/>
          <p:cNvSpPr/>
          <p:nvPr/>
        </p:nvSpPr>
        <p:spPr>
          <a:xfrm>
            <a:off x="6261720" y="2210000"/>
            <a:ext cx="23508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450" b="1" dirty="0">
                <a:solidFill>
                  <a:srgbClr val="FFFFFF"/>
                </a:solidFill>
              </a:rPr>
              <a:t xml:space="preserve">Exam Coordinator</a:t>
            </a:r>
          </a:p>
        </p:txBody>
      </p:sp>
      <p:sp>
        <p:nvSpPr>
          <p:cNvPr id="104" name="t"/>
          <p:cNvSpPr/>
          <p:nvPr/>
        </p:nvSpPr>
        <p:spPr>
          <a:xfrm>
            <a:off x="6261720" y="2530000"/>
            <a:ext cx="23508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100" b="1" dirty="0">
                <a:solidFill>
                  <a:srgbClr val="CE93D8"/>
                </a:solidFill>
              </a:rPr>
              <a:t xml:space="preserve">Coordinator</a:t>
            </a:r>
          </a:p>
        </p:txBody>
      </p:sp>
      <p:sp>
        <p:nvSpPr>
          <p:cNvPr id="105" name="t"/>
          <p:cNvSpPr/>
          <p:nvPr/>
        </p:nvSpPr>
        <p:spPr>
          <a:xfrm>
            <a:off x="6341720" y="2920000"/>
            <a:ext cx="219080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90A4D4"/>
                </a:solidFill>
              </a:rPr>
              <a:t xml:space="preserve">Sets up exam schedules and room allocations, and monitors conflicts and overall duty status.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07" name="e"/>
          <p:cNvSpPr/>
          <p:nvPr/>
        </p:nvSpPr>
        <p:spPr>
          <a:xfrm>
            <a:off x="7100000" y="3300000"/>
            <a:ext cx="3000000" cy="3000000"/>
          </a:xfrm>
          <a:prstGeom prst="ellipse">
            <a:avLst/>
          </a:prstGeom>
          <a:solidFill>
            <a:srgbClr val="2540A0">
              <a:alpha val="18000"/>
            </a:srgbClr>
          </a:solidFill>
          <a:ln/>
        </p:spPr>
      </p:sp>
      <p:sp>
        <p:nvSpPr>
          <p:cNvPr id="108" name="t"/>
          <p:cNvSpPr/>
          <p:nvPr/>
        </p:nvSpPr>
        <p:spPr>
          <a:xfrm>
            <a:off x="411480" y="228600"/>
            <a:ext cx="8321040" cy="4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 xml:space="preserve">Functional Requirements</a:t>
            </a:r>
          </a:p>
        </p:txBody>
      </p:sp>
      <p:sp>
        <p:nvSpPr>
          <p:cNvPr id="109" name="r"/>
          <p:cNvSpPr/>
          <p:nvPr/>
        </p:nvSpPr>
        <p:spPr>
          <a:xfrm>
            <a:off x="411480" y="712000"/>
            <a:ext cx="1828800" cy="3300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10" name="t"/>
          <p:cNvSpPr/>
          <p:nvPr/>
        </p:nvSpPr>
        <p:spPr>
          <a:xfrm>
            <a:off x="411480" y="792000"/>
            <a:ext cx="832104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300" dirty="0">
                <a:solidFill>
                  <a:srgbClr val="90A4D4"/>
                </a:solidFill>
              </a:rPr>
              <a:t xml:space="preserve">What the system must do</a:t>
            </a:r>
          </a:p>
        </p:txBody>
      </p:sp>
      <p:sp>
        <p:nvSpPr>
          <p:cNvPr id="111" name="rr"/>
          <p:cNvSpPr/>
          <p:nvPr/>
        </p:nvSpPr>
        <p:spPr>
          <a:xfrm>
            <a:off x="411480" y="1080000"/>
            <a:ext cx="4068000" cy="1140000"/>
          </a:xfrm>
          <a:prstGeom prst="roundRect">
            <a:avLst>
              <a:gd name="adj" fmla="val 6000"/>
            </a:avLst>
          </a:prstGeom>
          <a:solidFill>
            <a:srgbClr val="162060"/>
          </a:solidFill>
          <a:effectLst>
            <a:outerShdw blurRad="101600" dist="38100" dir="8100000" rotWithShape="0">
              <a:srgbClr val="000000">
                <a:alpha val="22000"/>
              </a:srgbClr>
            </a:outerShdw>
          </a:effectLst>
          <a:ln/>
        </p:spPr>
      </p:sp>
      <p:sp>
        <p:nvSpPr>
          <p:cNvPr id="112" name="r"/>
          <p:cNvSpPr/>
          <p:nvPr/>
        </p:nvSpPr>
        <p:spPr>
          <a:xfrm>
            <a:off x="411480" y="1080000"/>
            <a:ext cx="54864" cy="114000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13" name="t"/>
          <p:cNvSpPr/>
          <p:nvPr/>
        </p:nvSpPr>
        <p:spPr>
          <a:xfrm>
            <a:off x="581480" y="1200000"/>
            <a:ext cx="62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en-US" sz="2400" b="1" dirty="0">
                <a:solidFill>
                  <a:srgbClr val="4FC3F7"/>
                </a:solidFill>
              </a:rPr>
              <a:t xml:space="preserve">FR1</a:t>
            </a:r>
          </a:p>
        </p:txBody>
      </p:sp>
      <p:sp>
        <p:nvSpPr>
          <p:cNvPr id="114" name="t"/>
          <p:cNvSpPr/>
          <p:nvPr/>
        </p:nvSpPr>
        <p:spPr>
          <a:xfrm>
            <a:off x="1171480" y="1210000"/>
            <a:ext cx="3168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en-US" sz="1350" b="1" dirty="0">
                <a:solidFill>
                  <a:srgbClr val="FFFFFF"/>
                </a:solidFill>
              </a:rPr>
              <a:t xml:space="preserve">Faculty Management</a:t>
            </a:r>
          </a:p>
        </p:txBody>
      </p:sp>
      <p:sp>
        <p:nvSpPr>
          <p:cNvPr id="115" name="t"/>
          <p:cNvSpPr/>
          <p:nvPr/>
        </p:nvSpPr>
        <p:spPr>
          <a:xfrm>
            <a:off x="596480" y="1660000"/>
            <a:ext cx="3708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90A4D4"/>
                </a:solidFill>
              </a:rPr>
              <a:t xml:space="preserve">Add, update and manage faculty profiles, departments and availability.</a:t>
            </a:r>
          </a:p>
        </p:txBody>
      </p:sp>
      <p:sp>
        <p:nvSpPr>
          <p:cNvPr id="116" name="rr"/>
          <p:cNvSpPr/>
          <p:nvPr/>
        </p:nvSpPr>
        <p:spPr>
          <a:xfrm>
            <a:off x="4664520" y="1080000"/>
            <a:ext cx="4068000" cy="1140000"/>
          </a:xfrm>
          <a:prstGeom prst="roundRect">
            <a:avLst>
              <a:gd name="adj" fmla="val 6000"/>
            </a:avLst>
          </a:prstGeom>
          <a:solidFill>
            <a:srgbClr val="162060"/>
          </a:solidFill>
          <a:effectLst>
            <a:outerShdw blurRad="101600" dist="38100" dir="8100000" rotWithShape="0">
              <a:srgbClr val="000000">
                <a:alpha val="22000"/>
              </a:srgbClr>
            </a:outerShdw>
          </a:effectLst>
          <a:ln/>
        </p:spPr>
      </p:sp>
      <p:sp>
        <p:nvSpPr>
          <p:cNvPr id="117" name="r"/>
          <p:cNvSpPr/>
          <p:nvPr/>
        </p:nvSpPr>
        <p:spPr>
          <a:xfrm>
            <a:off x="4664520" y="1080000"/>
            <a:ext cx="54864" cy="1140000"/>
          </a:xfrm>
          <a:prstGeom prst="rect">
            <a:avLst/>
          </a:prstGeom>
          <a:solidFill>
            <a:srgbClr val="64B5F6"/>
          </a:solidFill>
          <a:ln/>
        </p:spPr>
      </p:sp>
      <p:sp>
        <p:nvSpPr>
          <p:cNvPr id="118" name="t"/>
          <p:cNvSpPr/>
          <p:nvPr/>
        </p:nvSpPr>
        <p:spPr>
          <a:xfrm>
            <a:off x="4834520" y="1200000"/>
            <a:ext cx="62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en-US" sz="2400" b="1" dirty="0">
                <a:solidFill>
                  <a:srgbClr val="64B5F6"/>
                </a:solidFill>
              </a:rPr>
              <a:t xml:space="preserve">FR2</a:t>
            </a:r>
          </a:p>
        </p:txBody>
      </p:sp>
      <p:sp>
        <p:nvSpPr>
          <p:cNvPr id="119" name="t"/>
          <p:cNvSpPr/>
          <p:nvPr/>
        </p:nvSpPr>
        <p:spPr>
          <a:xfrm>
            <a:off x="5424520" y="1210000"/>
            <a:ext cx="3168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en-US" sz="1350" b="1" dirty="0">
                <a:solidFill>
                  <a:srgbClr val="FFFFFF"/>
                </a:solidFill>
              </a:rPr>
              <a:t xml:space="preserve">Duty Allocation</a:t>
            </a:r>
          </a:p>
        </p:txBody>
      </p:sp>
      <p:sp>
        <p:nvSpPr>
          <p:cNvPr id="120" name="t"/>
          <p:cNvSpPr/>
          <p:nvPr/>
        </p:nvSpPr>
        <p:spPr>
          <a:xfrm>
            <a:off x="4849520" y="1660000"/>
            <a:ext cx="3708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90A4D4"/>
                </a:solidFill>
              </a:rPr>
              <a:t xml:space="preserve">Auto-assign invigilation duties using availability and fairness rules.</a:t>
            </a:r>
          </a:p>
        </p:txBody>
      </p:sp>
      <p:sp>
        <p:nvSpPr>
          <p:cNvPr id="121" name="rr"/>
          <p:cNvSpPr/>
          <p:nvPr/>
        </p:nvSpPr>
        <p:spPr>
          <a:xfrm>
            <a:off x="411480" y="2310000"/>
            <a:ext cx="4068000" cy="1140000"/>
          </a:xfrm>
          <a:prstGeom prst="roundRect">
            <a:avLst>
              <a:gd name="adj" fmla="val 6000"/>
            </a:avLst>
          </a:prstGeom>
          <a:solidFill>
            <a:srgbClr val="162060"/>
          </a:solidFill>
          <a:effectLst>
            <a:outerShdw blurRad="101600" dist="38100" dir="8100000" rotWithShape="0">
              <a:srgbClr val="000000">
                <a:alpha val="22000"/>
              </a:srgbClr>
            </a:outerShdw>
          </a:effectLst>
          <a:ln/>
        </p:spPr>
      </p:sp>
      <p:sp>
        <p:nvSpPr>
          <p:cNvPr id="122" name="r"/>
          <p:cNvSpPr/>
          <p:nvPr/>
        </p:nvSpPr>
        <p:spPr>
          <a:xfrm>
            <a:off x="411480" y="2310000"/>
            <a:ext cx="54864" cy="1140000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123" name="t"/>
          <p:cNvSpPr/>
          <p:nvPr/>
        </p:nvSpPr>
        <p:spPr>
          <a:xfrm>
            <a:off x="581480" y="2430000"/>
            <a:ext cx="62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en-US" sz="2400" b="1" dirty="0">
                <a:solidFill>
                  <a:srgbClr val="00E5A0"/>
                </a:solidFill>
              </a:rPr>
              <a:t xml:space="preserve">FR3</a:t>
            </a:r>
          </a:p>
        </p:txBody>
      </p:sp>
      <p:sp>
        <p:nvSpPr>
          <p:cNvPr id="124" name="t"/>
          <p:cNvSpPr/>
          <p:nvPr/>
        </p:nvSpPr>
        <p:spPr>
          <a:xfrm>
            <a:off x="1171480" y="2440000"/>
            <a:ext cx="3168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en-US" sz="1350" b="1" dirty="0">
                <a:solidFill>
                  <a:srgbClr val="FFFFFF"/>
                </a:solidFill>
              </a:rPr>
              <a:t xml:space="preserve">Exam &amp; Room Scheduling</a:t>
            </a:r>
          </a:p>
        </p:txBody>
      </p:sp>
      <p:sp>
        <p:nvSpPr>
          <p:cNvPr id="125" name="t"/>
          <p:cNvSpPr/>
          <p:nvPr/>
        </p:nvSpPr>
        <p:spPr>
          <a:xfrm>
            <a:off x="596480" y="2890000"/>
            <a:ext cx="3708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90A4D4"/>
                </a:solidFill>
              </a:rPr>
              <a:t xml:space="preserve">Create exam timetables and allocate examination halls and rooms.</a:t>
            </a:r>
          </a:p>
        </p:txBody>
      </p:sp>
      <p:sp>
        <p:nvSpPr>
          <p:cNvPr id="126" name="rr"/>
          <p:cNvSpPr/>
          <p:nvPr/>
        </p:nvSpPr>
        <p:spPr>
          <a:xfrm>
            <a:off x="4664520" y="2310000"/>
            <a:ext cx="4068000" cy="1140000"/>
          </a:xfrm>
          <a:prstGeom prst="roundRect">
            <a:avLst>
              <a:gd name="adj" fmla="val 6000"/>
            </a:avLst>
          </a:prstGeom>
          <a:solidFill>
            <a:srgbClr val="162060"/>
          </a:solidFill>
          <a:effectLst>
            <a:outerShdw blurRad="101600" dist="38100" dir="8100000" rotWithShape="0">
              <a:srgbClr val="000000">
                <a:alpha val="22000"/>
              </a:srgbClr>
            </a:outerShdw>
          </a:effectLst>
          <a:ln/>
        </p:spPr>
      </p:sp>
      <p:sp>
        <p:nvSpPr>
          <p:cNvPr id="127" name="r"/>
          <p:cNvSpPr/>
          <p:nvPr/>
        </p:nvSpPr>
        <p:spPr>
          <a:xfrm>
            <a:off x="4664520" y="2310000"/>
            <a:ext cx="54864" cy="1140000"/>
          </a:xfrm>
          <a:prstGeom prst="rect">
            <a:avLst/>
          </a:prstGeom>
          <a:solidFill>
            <a:srgbClr val="CE93D8"/>
          </a:solidFill>
          <a:ln/>
        </p:spPr>
      </p:sp>
      <p:sp>
        <p:nvSpPr>
          <p:cNvPr id="128" name="t"/>
          <p:cNvSpPr/>
          <p:nvPr/>
        </p:nvSpPr>
        <p:spPr>
          <a:xfrm>
            <a:off x="4834520" y="2430000"/>
            <a:ext cx="62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en-US" sz="2400" b="1" dirty="0">
                <a:solidFill>
                  <a:srgbClr val="CE93D8"/>
                </a:solidFill>
              </a:rPr>
              <a:t xml:space="preserve">FR4</a:t>
            </a:r>
          </a:p>
        </p:txBody>
      </p:sp>
      <p:sp>
        <p:nvSpPr>
          <p:cNvPr id="129" name="t"/>
          <p:cNvSpPr/>
          <p:nvPr/>
        </p:nvSpPr>
        <p:spPr>
          <a:xfrm>
            <a:off x="5424520" y="2440000"/>
            <a:ext cx="3168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en-US" sz="1350" b="1" dirty="0">
                <a:solidFill>
                  <a:srgbClr val="FFFFFF"/>
                </a:solidFill>
              </a:rPr>
              <a:t xml:space="preserve">Conflict Detection</a:t>
            </a:r>
          </a:p>
        </p:txBody>
      </p:sp>
      <p:sp>
        <p:nvSpPr>
          <p:cNvPr id="130" name="t"/>
          <p:cNvSpPr/>
          <p:nvPr/>
        </p:nvSpPr>
        <p:spPr>
          <a:xfrm>
            <a:off x="4849520" y="2890000"/>
            <a:ext cx="3708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90A4D4"/>
                </a:solidFill>
              </a:rPr>
              <a:t xml:space="preserve">Identify and flag clashes, overlaps and duplicate assignments.</a:t>
            </a:r>
          </a:p>
        </p:txBody>
      </p:sp>
      <p:sp>
        <p:nvSpPr>
          <p:cNvPr id="131" name="rr"/>
          <p:cNvSpPr/>
          <p:nvPr/>
        </p:nvSpPr>
        <p:spPr>
          <a:xfrm>
            <a:off x="411480" y="3540000"/>
            <a:ext cx="4068000" cy="1140000"/>
          </a:xfrm>
          <a:prstGeom prst="roundRect">
            <a:avLst>
              <a:gd name="adj" fmla="val 6000"/>
            </a:avLst>
          </a:prstGeom>
          <a:solidFill>
            <a:srgbClr val="162060"/>
          </a:solidFill>
          <a:effectLst>
            <a:outerShdw blurRad="101600" dist="38100" dir="8100000" rotWithShape="0">
              <a:srgbClr val="000000">
                <a:alpha val="22000"/>
              </a:srgbClr>
            </a:outerShdw>
          </a:effectLst>
          <a:ln/>
        </p:spPr>
      </p:sp>
      <p:sp>
        <p:nvSpPr>
          <p:cNvPr id="132" name="r"/>
          <p:cNvSpPr/>
          <p:nvPr/>
        </p:nvSpPr>
        <p:spPr>
          <a:xfrm>
            <a:off x="411480" y="3540000"/>
            <a:ext cx="54864" cy="1140000"/>
          </a:xfrm>
          <a:prstGeom prst="rect">
            <a:avLst/>
          </a:prstGeom>
          <a:solidFill>
            <a:srgbClr val="FFD54F"/>
          </a:solidFill>
          <a:ln/>
        </p:spPr>
      </p:sp>
      <p:sp>
        <p:nvSpPr>
          <p:cNvPr id="133" name="t"/>
          <p:cNvSpPr/>
          <p:nvPr/>
        </p:nvSpPr>
        <p:spPr>
          <a:xfrm>
            <a:off x="581480" y="3660000"/>
            <a:ext cx="62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en-US" sz="2400" b="1" dirty="0">
                <a:solidFill>
                  <a:srgbClr val="FFD54F"/>
                </a:solidFill>
              </a:rPr>
              <a:t xml:space="preserve">FR5</a:t>
            </a:r>
          </a:p>
        </p:txBody>
      </p:sp>
      <p:sp>
        <p:nvSpPr>
          <p:cNvPr id="134" name="t"/>
          <p:cNvSpPr/>
          <p:nvPr/>
        </p:nvSpPr>
        <p:spPr>
          <a:xfrm>
            <a:off x="1171480" y="3670000"/>
            <a:ext cx="3168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en-US" sz="1350" b="1" dirty="0">
                <a:solidFill>
                  <a:srgbClr val="FFFFFF"/>
                </a:solidFill>
              </a:rPr>
              <a:t xml:space="preserve">Notifications</a:t>
            </a:r>
          </a:p>
        </p:txBody>
      </p:sp>
      <p:sp>
        <p:nvSpPr>
          <p:cNvPr id="135" name="t"/>
          <p:cNvSpPr/>
          <p:nvPr/>
        </p:nvSpPr>
        <p:spPr>
          <a:xfrm>
            <a:off x="596480" y="4120000"/>
            <a:ext cx="3708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90A4D4"/>
                </a:solidFill>
              </a:rPr>
              <a:t xml:space="preserve">Send real-time alerts to faculty for new or changed duties.</a:t>
            </a:r>
          </a:p>
        </p:txBody>
      </p:sp>
      <p:sp>
        <p:nvSpPr>
          <p:cNvPr id="136" name="rr"/>
          <p:cNvSpPr/>
          <p:nvPr/>
        </p:nvSpPr>
        <p:spPr>
          <a:xfrm>
            <a:off x="4664520" y="3540000"/>
            <a:ext cx="4068000" cy="1140000"/>
          </a:xfrm>
          <a:prstGeom prst="roundRect">
            <a:avLst>
              <a:gd name="adj" fmla="val 6000"/>
            </a:avLst>
          </a:prstGeom>
          <a:solidFill>
            <a:srgbClr val="162060"/>
          </a:solidFill>
          <a:effectLst>
            <a:outerShdw blurRad="101600" dist="38100" dir="8100000" rotWithShape="0">
              <a:srgbClr val="000000">
                <a:alpha val="22000"/>
              </a:srgbClr>
            </a:outerShdw>
          </a:effectLst>
          <a:ln/>
        </p:spPr>
      </p:sp>
      <p:sp>
        <p:nvSpPr>
          <p:cNvPr id="137" name="r"/>
          <p:cNvSpPr/>
          <p:nvPr/>
        </p:nvSpPr>
        <p:spPr>
          <a:xfrm>
            <a:off x="4664520" y="3540000"/>
            <a:ext cx="54864" cy="1140000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138" name="t"/>
          <p:cNvSpPr/>
          <p:nvPr/>
        </p:nvSpPr>
        <p:spPr>
          <a:xfrm>
            <a:off x="4834520" y="3660000"/>
            <a:ext cx="62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en-US" sz="2400" b="1" dirty="0">
                <a:solidFill>
                  <a:srgbClr val="00E5A0"/>
                </a:solidFill>
              </a:rPr>
              <a:t xml:space="preserve">FR6</a:t>
            </a:r>
          </a:p>
        </p:txBody>
      </p:sp>
      <p:sp>
        <p:nvSpPr>
          <p:cNvPr id="139" name="t"/>
          <p:cNvSpPr/>
          <p:nvPr/>
        </p:nvSpPr>
        <p:spPr>
          <a:xfrm>
            <a:off x="5424520" y="3670000"/>
            <a:ext cx="3168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en-US" sz="1350" b="1" dirty="0">
                <a:solidFill>
                  <a:srgbClr val="FFFFFF"/>
                </a:solidFill>
              </a:rPr>
              <a:t xml:space="preserve">Reports &amp; Dashboards</a:t>
            </a:r>
          </a:p>
        </p:txBody>
      </p:sp>
      <p:sp>
        <p:nvSpPr>
          <p:cNvPr id="140" name="t"/>
          <p:cNvSpPr/>
          <p:nvPr/>
        </p:nvSpPr>
        <p:spPr>
          <a:xfrm>
            <a:off x="4849520" y="4120000"/>
            <a:ext cx="3708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90A4D4"/>
                </a:solidFill>
              </a:rPr>
              <a:t xml:space="preserve">Generate duty charts and provide role-based dashboards.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42" name="e"/>
          <p:cNvSpPr/>
          <p:nvPr/>
        </p:nvSpPr>
        <p:spPr>
          <a:xfrm>
            <a:off x="7100000" y="3300000"/>
            <a:ext cx="3000000" cy="3000000"/>
          </a:xfrm>
          <a:prstGeom prst="ellipse">
            <a:avLst/>
          </a:prstGeom>
          <a:solidFill>
            <a:srgbClr val="2540A0">
              <a:alpha val="18000"/>
            </a:srgbClr>
          </a:solidFill>
          <a:ln/>
        </p:spPr>
      </p:sp>
      <p:sp>
        <p:nvSpPr>
          <p:cNvPr id="143" name="t"/>
          <p:cNvSpPr/>
          <p:nvPr/>
        </p:nvSpPr>
        <p:spPr>
          <a:xfrm>
            <a:off x="411480" y="228600"/>
            <a:ext cx="8321040" cy="4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 xml:space="preserve">Non-Functional Requirements</a:t>
            </a:r>
          </a:p>
        </p:txBody>
      </p:sp>
      <p:sp>
        <p:nvSpPr>
          <p:cNvPr id="144" name="r"/>
          <p:cNvSpPr/>
          <p:nvPr/>
        </p:nvSpPr>
        <p:spPr>
          <a:xfrm>
            <a:off x="411480" y="712000"/>
            <a:ext cx="2057400" cy="3300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45" name="t"/>
          <p:cNvSpPr/>
          <p:nvPr/>
        </p:nvSpPr>
        <p:spPr>
          <a:xfrm>
            <a:off x="411480" y="792000"/>
            <a:ext cx="832104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300" dirty="0">
                <a:solidFill>
                  <a:srgbClr val="90A4D4"/>
                </a:solidFill>
              </a:rPr>
              <a:t xml:space="preserve">How well the system must perform</a:t>
            </a:r>
          </a:p>
        </p:txBody>
      </p:sp>
      <p:sp>
        <p:nvSpPr>
          <p:cNvPr id="146" name="rr"/>
          <p:cNvSpPr/>
          <p:nvPr/>
        </p:nvSpPr>
        <p:spPr>
          <a:xfrm>
            <a:off x="411480" y="1080000"/>
            <a:ext cx="4068000" cy="1140000"/>
          </a:xfrm>
          <a:prstGeom prst="roundRect">
            <a:avLst>
              <a:gd name="adj" fmla="val 6000"/>
            </a:avLst>
          </a:prstGeom>
          <a:solidFill>
            <a:srgbClr val="162060"/>
          </a:solidFill>
          <a:effectLst>
            <a:outerShdw blurRad="101600" dist="38100" dir="8100000" rotWithShape="0">
              <a:srgbClr val="000000">
                <a:alpha val="22000"/>
              </a:srgbClr>
            </a:outerShdw>
          </a:effectLst>
          <a:ln/>
        </p:spPr>
      </p:sp>
      <p:sp>
        <p:nvSpPr>
          <p:cNvPr id="147" name="r"/>
          <p:cNvSpPr/>
          <p:nvPr/>
        </p:nvSpPr>
        <p:spPr>
          <a:xfrm>
            <a:off x="411480" y="1080000"/>
            <a:ext cx="54864" cy="114000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48" name="t"/>
          <p:cNvSpPr/>
          <p:nvPr/>
        </p:nvSpPr>
        <p:spPr>
          <a:xfrm>
            <a:off x="581480" y="1200000"/>
            <a:ext cx="62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en-US" sz="2400" b="1" dirty="0">
                <a:solidFill>
                  <a:srgbClr val="4FC3F7"/>
                </a:solidFill>
              </a:rPr>
              <a:t xml:space="preserve">⚡</a:t>
            </a:r>
          </a:p>
        </p:txBody>
      </p:sp>
      <p:sp>
        <p:nvSpPr>
          <p:cNvPr id="149" name="t"/>
          <p:cNvSpPr/>
          <p:nvPr/>
        </p:nvSpPr>
        <p:spPr>
          <a:xfrm>
            <a:off x="1171480" y="1210000"/>
            <a:ext cx="3168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en-US" sz="1350" b="1" dirty="0">
                <a:solidFill>
                  <a:srgbClr val="FFFFFF"/>
                </a:solidFill>
              </a:rPr>
              <a:t xml:space="preserve">Performance</a:t>
            </a:r>
          </a:p>
        </p:txBody>
      </p:sp>
      <p:sp>
        <p:nvSpPr>
          <p:cNvPr id="150" name="t"/>
          <p:cNvSpPr/>
          <p:nvPr/>
        </p:nvSpPr>
        <p:spPr>
          <a:xfrm>
            <a:off x="596480" y="1660000"/>
            <a:ext cx="3708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90A4D4"/>
                </a:solidFill>
              </a:rPr>
              <a:t xml:space="preserve">Allocate duties for a full exam schedule within a few seconds.</a:t>
            </a:r>
          </a:p>
        </p:txBody>
      </p:sp>
      <p:sp>
        <p:nvSpPr>
          <p:cNvPr id="151" name="rr"/>
          <p:cNvSpPr/>
          <p:nvPr/>
        </p:nvSpPr>
        <p:spPr>
          <a:xfrm>
            <a:off x="4664520" y="1080000"/>
            <a:ext cx="4068000" cy="1140000"/>
          </a:xfrm>
          <a:prstGeom prst="roundRect">
            <a:avLst>
              <a:gd name="adj" fmla="val 6000"/>
            </a:avLst>
          </a:prstGeom>
          <a:solidFill>
            <a:srgbClr val="162060"/>
          </a:solidFill>
          <a:effectLst>
            <a:outerShdw blurRad="101600" dist="38100" dir="8100000" rotWithShape="0">
              <a:srgbClr val="000000">
                <a:alpha val="22000"/>
              </a:srgbClr>
            </a:outerShdw>
          </a:effectLst>
          <a:ln/>
        </p:spPr>
      </p:sp>
      <p:sp>
        <p:nvSpPr>
          <p:cNvPr id="152" name="r"/>
          <p:cNvSpPr/>
          <p:nvPr/>
        </p:nvSpPr>
        <p:spPr>
          <a:xfrm>
            <a:off x="4664520" y="1080000"/>
            <a:ext cx="54864" cy="1140000"/>
          </a:xfrm>
          <a:prstGeom prst="rect">
            <a:avLst/>
          </a:prstGeom>
          <a:solidFill>
            <a:srgbClr val="64B5F6"/>
          </a:solidFill>
          <a:ln/>
        </p:spPr>
      </p:sp>
      <p:sp>
        <p:nvSpPr>
          <p:cNvPr id="153" name="t"/>
          <p:cNvSpPr/>
          <p:nvPr/>
        </p:nvSpPr>
        <p:spPr>
          <a:xfrm>
            <a:off x="4834520" y="1200000"/>
            <a:ext cx="62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en-US" sz="2400" b="1" dirty="0">
                <a:solidFill>
                  <a:srgbClr val="64B5F6"/>
                </a:solidFill>
              </a:rPr>
              <a:t xml:space="preserve">👤</a:t>
            </a:r>
          </a:p>
        </p:txBody>
      </p:sp>
      <p:sp>
        <p:nvSpPr>
          <p:cNvPr id="154" name="t"/>
          <p:cNvSpPr/>
          <p:nvPr/>
        </p:nvSpPr>
        <p:spPr>
          <a:xfrm>
            <a:off x="5424520" y="1210000"/>
            <a:ext cx="3168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en-US" sz="1350" b="1" dirty="0">
                <a:solidFill>
                  <a:srgbClr val="FFFFFF"/>
                </a:solidFill>
              </a:rPr>
              <a:t xml:space="preserve">Usability</a:t>
            </a:r>
          </a:p>
        </p:txBody>
      </p:sp>
      <p:sp>
        <p:nvSpPr>
          <p:cNvPr id="155" name="t"/>
          <p:cNvSpPr/>
          <p:nvPr/>
        </p:nvSpPr>
        <p:spPr>
          <a:xfrm>
            <a:off x="4849520" y="1660000"/>
            <a:ext cx="3708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90A4D4"/>
                </a:solidFill>
              </a:rPr>
              <a:t xml:space="preserve">Clean, intuitive web interface usable with minimal training.</a:t>
            </a:r>
          </a:p>
        </p:txBody>
      </p:sp>
      <p:sp>
        <p:nvSpPr>
          <p:cNvPr id="156" name="rr"/>
          <p:cNvSpPr/>
          <p:nvPr/>
        </p:nvSpPr>
        <p:spPr>
          <a:xfrm>
            <a:off x="411480" y="2310000"/>
            <a:ext cx="4068000" cy="1140000"/>
          </a:xfrm>
          <a:prstGeom prst="roundRect">
            <a:avLst>
              <a:gd name="adj" fmla="val 6000"/>
            </a:avLst>
          </a:prstGeom>
          <a:solidFill>
            <a:srgbClr val="162060"/>
          </a:solidFill>
          <a:effectLst>
            <a:outerShdw blurRad="101600" dist="38100" dir="8100000" rotWithShape="0">
              <a:srgbClr val="000000">
                <a:alpha val="22000"/>
              </a:srgbClr>
            </a:outerShdw>
          </a:effectLst>
          <a:ln/>
        </p:spPr>
      </p:sp>
      <p:sp>
        <p:nvSpPr>
          <p:cNvPr id="157" name="r"/>
          <p:cNvSpPr/>
          <p:nvPr/>
        </p:nvSpPr>
        <p:spPr>
          <a:xfrm>
            <a:off x="411480" y="2310000"/>
            <a:ext cx="54864" cy="1140000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158" name="t"/>
          <p:cNvSpPr/>
          <p:nvPr/>
        </p:nvSpPr>
        <p:spPr>
          <a:xfrm>
            <a:off x="581480" y="2430000"/>
            <a:ext cx="62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en-US" sz="2400" b="1" dirty="0">
                <a:solidFill>
                  <a:srgbClr val="00E5A0"/>
                </a:solidFill>
              </a:rPr>
              <a:t xml:space="preserve">🔒</a:t>
            </a:r>
          </a:p>
        </p:txBody>
      </p:sp>
      <p:sp>
        <p:nvSpPr>
          <p:cNvPr id="159" name="t"/>
          <p:cNvSpPr/>
          <p:nvPr/>
        </p:nvSpPr>
        <p:spPr>
          <a:xfrm>
            <a:off x="1171480" y="2440000"/>
            <a:ext cx="3168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en-US" sz="1350" b="1" dirty="0">
                <a:solidFill>
                  <a:srgbClr val="FFFFFF"/>
                </a:solidFill>
              </a:rPr>
              <a:t xml:space="preserve">Security</a:t>
            </a:r>
          </a:p>
        </p:txBody>
      </p:sp>
      <p:sp>
        <p:nvSpPr>
          <p:cNvPr id="160" name="t"/>
          <p:cNvSpPr/>
          <p:nvPr/>
        </p:nvSpPr>
        <p:spPr>
          <a:xfrm>
            <a:off x="596480" y="2890000"/>
            <a:ext cx="3708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90A4D4"/>
                </a:solidFill>
              </a:rPr>
              <a:t xml:space="preserve">Credential-based login with role-based access control.</a:t>
            </a:r>
          </a:p>
        </p:txBody>
      </p:sp>
      <p:sp>
        <p:nvSpPr>
          <p:cNvPr id="161" name="rr"/>
          <p:cNvSpPr/>
          <p:nvPr/>
        </p:nvSpPr>
        <p:spPr>
          <a:xfrm>
            <a:off x="4664520" y="2310000"/>
            <a:ext cx="4068000" cy="1140000"/>
          </a:xfrm>
          <a:prstGeom prst="roundRect">
            <a:avLst>
              <a:gd name="adj" fmla="val 6000"/>
            </a:avLst>
          </a:prstGeom>
          <a:solidFill>
            <a:srgbClr val="162060"/>
          </a:solidFill>
          <a:effectLst>
            <a:outerShdw blurRad="101600" dist="38100" dir="8100000" rotWithShape="0">
              <a:srgbClr val="000000">
                <a:alpha val="22000"/>
              </a:srgbClr>
            </a:outerShdw>
          </a:effectLst>
          <a:ln/>
        </p:spPr>
      </p:sp>
      <p:sp>
        <p:nvSpPr>
          <p:cNvPr id="162" name="r"/>
          <p:cNvSpPr/>
          <p:nvPr/>
        </p:nvSpPr>
        <p:spPr>
          <a:xfrm>
            <a:off x="4664520" y="2310000"/>
            <a:ext cx="54864" cy="1140000"/>
          </a:xfrm>
          <a:prstGeom prst="rect">
            <a:avLst/>
          </a:prstGeom>
          <a:solidFill>
            <a:srgbClr val="CE93D8"/>
          </a:solidFill>
          <a:ln/>
        </p:spPr>
      </p:sp>
      <p:sp>
        <p:nvSpPr>
          <p:cNvPr id="163" name="t"/>
          <p:cNvSpPr/>
          <p:nvPr/>
        </p:nvSpPr>
        <p:spPr>
          <a:xfrm>
            <a:off x="4834520" y="2430000"/>
            <a:ext cx="62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en-US" sz="2400" b="1" dirty="0">
                <a:solidFill>
                  <a:srgbClr val="CE93D8"/>
                </a:solidFill>
              </a:rPr>
              <a:t xml:space="preserve">✅</a:t>
            </a:r>
          </a:p>
        </p:txBody>
      </p:sp>
      <p:sp>
        <p:nvSpPr>
          <p:cNvPr id="164" name="t"/>
          <p:cNvSpPr/>
          <p:nvPr/>
        </p:nvSpPr>
        <p:spPr>
          <a:xfrm>
            <a:off x="5424520" y="2440000"/>
            <a:ext cx="3168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en-US" sz="1350" b="1" dirty="0">
                <a:solidFill>
                  <a:srgbClr val="FFFFFF"/>
                </a:solidFill>
              </a:rPr>
              <a:t xml:space="preserve">Reliability</a:t>
            </a:r>
          </a:p>
        </p:txBody>
      </p:sp>
      <p:sp>
        <p:nvSpPr>
          <p:cNvPr id="165" name="t"/>
          <p:cNvSpPr/>
          <p:nvPr/>
        </p:nvSpPr>
        <p:spPr>
          <a:xfrm>
            <a:off x="4849520" y="2890000"/>
            <a:ext cx="3708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90A4D4"/>
                </a:solidFill>
              </a:rPr>
              <a:t xml:space="preserve">Consistent, accurate allocation with no loss of data.</a:t>
            </a:r>
          </a:p>
        </p:txBody>
      </p:sp>
      <p:sp>
        <p:nvSpPr>
          <p:cNvPr id="166" name="rr"/>
          <p:cNvSpPr/>
          <p:nvPr/>
        </p:nvSpPr>
        <p:spPr>
          <a:xfrm>
            <a:off x="411480" y="3540000"/>
            <a:ext cx="4068000" cy="1140000"/>
          </a:xfrm>
          <a:prstGeom prst="roundRect">
            <a:avLst>
              <a:gd name="adj" fmla="val 6000"/>
            </a:avLst>
          </a:prstGeom>
          <a:solidFill>
            <a:srgbClr val="162060"/>
          </a:solidFill>
          <a:effectLst>
            <a:outerShdw blurRad="101600" dist="38100" dir="8100000" rotWithShape="0">
              <a:srgbClr val="000000">
                <a:alpha val="22000"/>
              </a:srgbClr>
            </a:outerShdw>
          </a:effectLst>
          <a:ln/>
        </p:spPr>
      </p:sp>
      <p:sp>
        <p:nvSpPr>
          <p:cNvPr id="167" name="r"/>
          <p:cNvSpPr/>
          <p:nvPr/>
        </p:nvSpPr>
        <p:spPr>
          <a:xfrm>
            <a:off x="411480" y="3540000"/>
            <a:ext cx="54864" cy="1140000"/>
          </a:xfrm>
          <a:prstGeom prst="rect">
            <a:avLst/>
          </a:prstGeom>
          <a:solidFill>
            <a:srgbClr val="FFD54F"/>
          </a:solidFill>
          <a:ln/>
        </p:spPr>
      </p:sp>
      <p:sp>
        <p:nvSpPr>
          <p:cNvPr id="168" name="t"/>
          <p:cNvSpPr/>
          <p:nvPr/>
        </p:nvSpPr>
        <p:spPr>
          <a:xfrm>
            <a:off x="581480" y="3660000"/>
            <a:ext cx="62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en-US" sz="2400" b="1" dirty="0">
                <a:solidFill>
                  <a:srgbClr val="FFD54F"/>
                </a:solidFill>
              </a:rPr>
              <a:t xml:space="preserve">📈</a:t>
            </a:r>
          </a:p>
        </p:txBody>
      </p:sp>
      <p:sp>
        <p:nvSpPr>
          <p:cNvPr id="169" name="t"/>
          <p:cNvSpPr/>
          <p:nvPr/>
        </p:nvSpPr>
        <p:spPr>
          <a:xfrm>
            <a:off x="1171480" y="3670000"/>
            <a:ext cx="3168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en-US" sz="1350" b="1" dirty="0">
                <a:solidFill>
                  <a:srgbClr val="FFFFFF"/>
                </a:solidFill>
              </a:rPr>
              <a:t xml:space="preserve">Scalability</a:t>
            </a:r>
          </a:p>
        </p:txBody>
      </p:sp>
      <p:sp>
        <p:nvSpPr>
          <p:cNvPr id="170" name="t"/>
          <p:cNvSpPr/>
          <p:nvPr/>
        </p:nvSpPr>
        <p:spPr>
          <a:xfrm>
            <a:off x="596480" y="4120000"/>
            <a:ext cx="3708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90A4D4"/>
                </a:solidFill>
              </a:rPr>
              <a:t xml:space="preserve">Support growing numbers of faculty, exams and rooms.</a:t>
            </a:r>
          </a:p>
        </p:txBody>
      </p:sp>
      <p:sp>
        <p:nvSpPr>
          <p:cNvPr id="171" name="rr"/>
          <p:cNvSpPr/>
          <p:nvPr/>
        </p:nvSpPr>
        <p:spPr>
          <a:xfrm>
            <a:off x="4664520" y="3540000"/>
            <a:ext cx="4068000" cy="1140000"/>
          </a:xfrm>
          <a:prstGeom prst="roundRect">
            <a:avLst>
              <a:gd name="adj" fmla="val 6000"/>
            </a:avLst>
          </a:prstGeom>
          <a:solidFill>
            <a:srgbClr val="162060"/>
          </a:solidFill>
          <a:effectLst>
            <a:outerShdw blurRad="101600" dist="38100" dir="8100000" rotWithShape="0">
              <a:srgbClr val="000000">
                <a:alpha val="22000"/>
              </a:srgbClr>
            </a:outerShdw>
          </a:effectLst>
          <a:ln/>
        </p:spPr>
      </p:sp>
      <p:sp>
        <p:nvSpPr>
          <p:cNvPr id="172" name="r"/>
          <p:cNvSpPr/>
          <p:nvPr/>
        </p:nvSpPr>
        <p:spPr>
          <a:xfrm>
            <a:off x="4664520" y="3540000"/>
            <a:ext cx="54864" cy="1140000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173" name="t"/>
          <p:cNvSpPr/>
          <p:nvPr/>
        </p:nvSpPr>
        <p:spPr>
          <a:xfrm>
            <a:off x="4834520" y="3660000"/>
            <a:ext cx="62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en-US" sz="2400" b="1" dirty="0">
                <a:solidFill>
                  <a:srgbClr val="00E5A0"/>
                </a:solidFill>
              </a:rPr>
              <a:t xml:space="preserve">🌐</a:t>
            </a:r>
          </a:p>
        </p:txBody>
      </p:sp>
      <p:sp>
        <p:nvSpPr>
          <p:cNvPr id="174" name="t"/>
          <p:cNvSpPr/>
          <p:nvPr/>
        </p:nvSpPr>
        <p:spPr>
          <a:xfrm>
            <a:off x="5424520" y="3670000"/>
            <a:ext cx="3168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en-US" sz="1350" b="1" dirty="0">
                <a:solidFill>
                  <a:srgbClr val="FFFFFF"/>
                </a:solidFill>
              </a:rPr>
              <a:t xml:space="preserve">Availability</a:t>
            </a:r>
          </a:p>
        </p:txBody>
      </p:sp>
      <p:sp>
        <p:nvSpPr>
          <p:cNvPr id="175" name="t"/>
          <p:cNvSpPr/>
          <p:nvPr/>
        </p:nvSpPr>
        <p:spPr>
          <a:xfrm>
            <a:off x="4849520" y="4120000"/>
            <a:ext cx="3708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90A4D4"/>
                </a:solidFill>
              </a:rPr>
              <a:t xml:space="preserve">Accessible anytime through any modern web browser.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77" name="e"/>
          <p:cNvSpPr/>
          <p:nvPr/>
        </p:nvSpPr>
        <p:spPr>
          <a:xfrm>
            <a:off x="7100000" y="3300000"/>
            <a:ext cx="3000000" cy="3000000"/>
          </a:xfrm>
          <a:prstGeom prst="ellipse">
            <a:avLst/>
          </a:prstGeom>
          <a:solidFill>
            <a:srgbClr val="2540A0">
              <a:alpha val="18000"/>
            </a:srgbClr>
          </a:solidFill>
          <a:ln/>
        </p:spPr>
      </p:sp>
      <p:sp>
        <p:nvSpPr>
          <p:cNvPr id="178" name="t"/>
          <p:cNvSpPr/>
          <p:nvPr/>
        </p:nvSpPr>
        <p:spPr>
          <a:xfrm>
            <a:off x="411480" y="228600"/>
            <a:ext cx="8321040" cy="4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 xml:space="preserve">Assumptions &amp; Acceptance Criteria</a:t>
            </a:r>
          </a:p>
        </p:txBody>
      </p:sp>
      <p:sp>
        <p:nvSpPr>
          <p:cNvPr id="179" name="r"/>
          <p:cNvSpPr/>
          <p:nvPr/>
        </p:nvSpPr>
        <p:spPr>
          <a:xfrm>
            <a:off x="411480" y="712000"/>
            <a:ext cx="2286000" cy="3300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80" name="t"/>
          <p:cNvSpPr/>
          <p:nvPr/>
        </p:nvSpPr>
        <p:spPr>
          <a:xfrm>
            <a:off x="411480" y="792000"/>
            <a:ext cx="832104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300" dirty="0">
                <a:solidFill>
                  <a:srgbClr val="90A4D4"/>
                </a:solidFill>
              </a:rPr>
              <a:t xml:space="preserve">Conditions and measures of success</a:t>
            </a:r>
          </a:p>
        </p:txBody>
      </p:sp>
      <p:sp>
        <p:nvSpPr>
          <p:cNvPr id="181" name="rr"/>
          <p:cNvSpPr/>
          <p:nvPr/>
        </p:nvSpPr>
        <p:spPr>
          <a:xfrm>
            <a:off x="411480" y="1080000"/>
            <a:ext cx="4068000" cy="3640000"/>
          </a:xfrm>
          <a:prstGeom prst="roundRect">
            <a:avLst>
              <a:gd name="adj" fmla="val 6000"/>
            </a:avLst>
          </a:prstGeom>
          <a:solidFill>
            <a:srgbClr val="162060"/>
          </a:solidFill>
          <a:effectLst>
            <a:outerShdw blurRad="101600" dist="38100" dir="8100000" rotWithShape="0">
              <a:srgbClr val="000000">
                <a:alpha val="22000"/>
              </a:srgbClr>
            </a:outerShdw>
          </a:effectLst>
          <a:ln/>
        </p:spPr>
      </p:sp>
      <p:sp>
        <p:nvSpPr>
          <p:cNvPr id="182" name="r"/>
          <p:cNvSpPr/>
          <p:nvPr/>
        </p:nvSpPr>
        <p:spPr>
          <a:xfrm>
            <a:off x="411480" y="1080000"/>
            <a:ext cx="54864" cy="364000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83" name="e"/>
          <p:cNvSpPr/>
          <p:nvPr/>
        </p:nvSpPr>
        <p:spPr>
          <a:xfrm>
            <a:off x="566480" y="1230000"/>
            <a:ext cx="560000" cy="560000"/>
          </a:xfrm>
          <a:prstGeom prst="ellipse">
            <a:avLst/>
          </a:prstGeom>
          <a:solidFill>
            <a:srgbClr val="4FC3F7">
              <a:alpha val="22000"/>
            </a:srgbClr>
          </a:solidFill>
          <a:ln/>
        </p:spPr>
      </p:sp>
      <p:sp>
        <p:nvSpPr>
          <p:cNvPr id="184" name="t"/>
          <p:cNvSpPr/>
          <p:nvPr/>
        </p:nvSpPr>
        <p:spPr>
          <a:xfrm>
            <a:off x="596480" y="1250000"/>
            <a:ext cx="52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2400" dirty="0">
                <a:solidFill>
                  <a:srgbClr val="4FC3F7"/>
                </a:solidFill>
              </a:rPr>
              <a:t xml:space="preserve">📝</a:t>
            </a:r>
          </a:p>
        </p:txBody>
      </p:sp>
      <p:sp>
        <p:nvSpPr>
          <p:cNvPr id="185" name="t"/>
          <p:cNvSpPr/>
          <p:nvPr/>
        </p:nvSpPr>
        <p:spPr>
          <a:xfrm>
            <a:off x="1231480" y="1280000"/>
            <a:ext cx="3088000" cy="4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en-US" sz="1600" b="1" dirty="0">
                <a:solidFill>
                  <a:srgbClr val="FFFFFF"/>
                </a:solidFill>
              </a:rPr>
              <a:t xml:space="preserve">Assumptions</a:t>
            </a:r>
          </a:p>
        </p:txBody>
      </p:sp>
      <p:sp>
        <p:nvSpPr>
          <p:cNvPr id="186" name="t"/>
          <p:cNvSpPr/>
          <p:nvPr/>
        </p:nvSpPr>
        <p:spPr>
          <a:xfrm>
            <a:off x="611480" y="1980000"/>
            <a:ext cx="3668000" cy="2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lnSpc>
                <a:spcPct val="185000"/>
              </a:lnSpc>
              <a:buNone/>
            </a:pPr>
            <a:r>
              <a:rPr lang="en-US" sz="1300" dirty="0">
                <a:solidFill>
                  <a:srgbClr val="90A4D4"/>
                </a:solidFill>
              </a:rPr>
              <a:t xml:space="preserve">Faculty availability data is kept up to date.</a:t>
            </a:r>
          </a:p>
          <a:p>
            <a:pPr indent="0" marL="0" algn="l">
              <a:lnSpc>
                <a:spcPct val="185000"/>
              </a:lnSpc>
              <a:buNone/>
            </a:pPr>
            <a:r>
              <a:rPr lang="en-US" sz="1300" dirty="0">
                <a:solidFill>
                  <a:srgbClr val="90A4D4"/>
                </a:solidFill>
              </a:rPr>
              <a:t xml:space="preserve">Exam schedules and room lists are provided.</a:t>
            </a:r>
          </a:p>
          <a:p>
            <a:pPr indent="0" marL="0" algn="l">
              <a:lnSpc>
                <a:spcPct val="185000"/>
              </a:lnSpc>
              <a:buNone/>
            </a:pPr>
            <a:r>
              <a:rPr lang="en-US" sz="1300" dirty="0">
                <a:solidFill>
                  <a:srgbClr val="90A4D4"/>
                </a:solidFill>
              </a:rPr>
              <a:t xml:space="preserve">Users have a device with a modern browser.</a:t>
            </a:r>
          </a:p>
          <a:p>
            <a:pPr indent="0" marL="0" algn="l">
              <a:lnSpc>
                <a:spcPct val="185000"/>
              </a:lnSpc>
              <a:buNone/>
            </a:pPr>
            <a:r>
              <a:rPr lang="en-US" sz="1300" dirty="0">
                <a:solidFill>
                  <a:srgbClr val="90A4D4"/>
                </a:solidFill>
              </a:rPr>
              <a:t xml:space="preserve">A stable internet connection is available.</a:t>
            </a:r>
          </a:p>
          <a:p>
            <a:pPr indent="0" marL="0" algn="l">
              <a:lnSpc>
                <a:spcPct val="185000"/>
              </a:lnSpc>
              <a:buNone/>
            </a:pPr>
            <a:r>
              <a:rPr lang="en-US" sz="1300" dirty="0">
                <a:solidFill>
                  <a:srgbClr val="90A4D4"/>
                </a:solidFill>
              </a:rPr>
              <a:t xml:space="preserve">Faculty respond to notifications in good time.</a:t>
            </a:r>
          </a:p>
        </p:txBody>
      </p:sp>
      <p:sp>
        <p:nvSpPr>
          <p:cNvPr id="187" name="rr"/>
          <p:cNvSpPr/>
          <p:nvPr/>
        </p:nvSpPr>
        <p:spPr>
          <a:xfrm>
            <a:off x="4664520" y="1080000"/>
            <a:ext cx="4068000" cy="3640000"/>
          </a:xfrm>
          <a:prstGeom prst="roundRect">
            <a:avLst>
              <a:gd name="adj" fmla="val 6000"/>
            </a:avLst>
          </a:prstGeom>
          <a:solidFill>
            <a:srgbClr val="162060"/>
          </a:solidFill>
          <a:effectLst>
            <a:outerShdw blurRad="101600" dist="38100" dir="8100000" rotWithShape="0">
              <a:srgbClr val="000000">
                <a:alpha val="22000"/>
              </a:srgbClr>
            </a:outerShdw>
          </a:effectLst>
          <a:ln/>
        </p:spPr>
      </p:sp>
      <p:sp>
        <p:nvSpPr>
          <p:cNvPr id="188" name="r"/>
          <p:cNvSpPr/>
          <p:nvPr/>
        </p:nvSpPr>
        <p:spPr>
          <a:xfrm>
            <a:off x="4664520" y="1080000"/>
            <a:ext cx="54864" cy="3640000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189" name="e"/>
          <p:cNvSpPr/>
          <p:nvPr/>
        </p:nvSpPr>
        <p:spPr>
          <a:xfrm>
            <a:off x="4819520" y="1230000"/>
            <a:ext cx="560000" cy="560000"/>
          </a:xfrm>
          <a:prstGeom prst="ellipse">
            <a:avLst/>
          </a:prstGeom>
          <a:solidFill>
            <a:srgbClr val="00E5A0">
              <a:alpha val="22000"/>
            </a:srgbClr>
          </a:solidFill>
          <a:ln/>
        </p:spPr>
      </p:sp>
      <p:sp>
        <p:nvSpPr>
          <p:cNvPr id="190" name="t"/>
          <p:cNvSpPr/>
          <p:nvPr/>
        </p:nvSpPr>
        <p:spPr>
          <a:xfrm>
            <a:off x="4849520" y="1250000"/>
            <a:ext cx="52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2400" dirty="0">
                <a:solidFill>
                  <a:srgbClr val="00E5A0"/>
                </a:solidFill>
              </a:rPr>
              <a:t xml:space="preserve">✔</a:t>
            </a:r>
          </a:p>
        </p:txBody>
      </p:sp>
      <p:sp>
        <p:nvSpPr>
          <p:cNvPr id="191" name="t"/>
          <p:cNvSpPr/>
          <p:nvPr/>
        </p:nvSpPr>
        <p:spPr>
          <a:xfrm>
            <a:off x="5484520" y="1280000"/>
            <a:ext cx="3088000" cy="4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en-US" sz="1600" b="1" dirty="0">
                <a:solidFill>
                  <a:srgbClr val="FFFFFF"/>
                </a:solidFill>
              </a:rPr>
              <a:t xml:space="preserve">Acceptance Criteria</a:t>
            </a:r>
          </a:p>
        </p:txBody>
      </p:sp>
      <p:sp>
        <p:nvSpPr>
          <p:cNvPr id="192" name="t"/>
          <p:cNvSpPr/>
          <p:nvPr/>
        </p:nvSpPr>
        <p:spPr>
          <a:xfrm>
            <a:off x="4864520" y="1980000"/>
            <a:ext cx="3668000" cy="2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lnSpc>
                <a:spcPct val="185000"/>
              </a:lnSpc>
              <a:buNone/>
            </a:pPr>
            <a:r>
              <a:rPr lang="en-US" sz="1300" dirty="0">
                <a:solidFill>
                  <a:srgbClr val="90A4D4"/>
                </a:solidFill>
              </a:rPr>
              <a:t xml:space="preserve">Duties are allocated with no scheduling conflicts.</a:t>
            </a:r>
          </a:p>
          <a:p>
            <a:pPr indent="0" marL="0" algn="l">
              <a:lnSpc>
                <a:spcPct val="185000"/>
              </a:lnSpc>
              <a:buNone/>
            </a:pPr>
            <a:r>
              <a:rPr lang="en-US" sz="1300" dirty="0">
                <a:solidFill>
                  <a:srgbClr val="90A4D4"/>
                </a:solidFill>
              </a:rPr>
              <a:t xml:space="preserve">Workload is distributed fairly across faculty.</a:t>
            </a:r>
          </a:p>
          <a:p>
            <a:pPr indent="0" marL="0" algn="l">
              <a:lnSpc>
                <a:spcPct val="185000"/>
              </a:lnSpc>
              <a:buNone/>
            </a:pPr>
            <a:r>
              <a:rPr lang="en-US" sz="1300" dirty="0">
                <a:solidFill>
                  <a:srgbClr val="90A4D4"/>
                </a:solidFill>
              </a:rPr>
              <a:t xml:space="preserve">Faculty receive accurate, timely notifications.</a:t>
            </a:r>
          </a:p>
          <a:p>
            <a:pPr indent="0" marL="0" algn="l">
              <a:lnSpc>
                <a:spcPct val="185000"/>
              </a:lnSpc>
              <a:buNone/>
            </a:pPr>
            <a:r>
              <a:rPr lang="en-US" sz="1300" dirty="0">
                <a:solidFill>
                  <a:srgbClr val="90A4D4"/>
                </a:solidFill>
              </a:rPr>
              <a:t xml:space="preserve">Admin can generate correct duty charts &amp; reports.</a:t>
            </a:r>
          </a:p>
          <a:p>
            <a:pPr indent="0" marL="0" algn="l">
              <a:lnSpc>
                <a:spcPct val="185000"/>
              </a:lnSpc>
              <a:buNone/>
            </a:pPr>
            <a:r>
              <a:rPr lang="en-US" sz="1300" dirty="0">
                <a:solidFill>
                  <a:srgbClr val="90A4D4"/>
                </a:solidFill>
              </a:rPr>
              <a:t xml:space="preserve">System runs reliably on standard web browsers.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Examination Invigilation Duty Allocator</dc:title>
  <dc:subject>PptxGenJS Presentation</dc:subject>
  <dc:creator>PptxGenJS</dc:creator>
  <cp:lastModifiedBy>PptxGenJS</cp:lastModifiedBy>
  <cp:revision>1</cp:revision>
  <dcterms:created xsi:type="dcterms:W3CDTF">2026-05-08T03:40:06Z</dcterms:created>
  <dcterms:modified xsi:type="dcterms:W3CDTF">2026-05-08T03:40:06Z</dcterms:modified>
</cp:coreProperties>
</file>